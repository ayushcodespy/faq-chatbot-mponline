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9144000" cy="16256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1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6036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mnouvznmzqq6/mnt/agents/output/mponline_chatbot/images/5_Artificial_intelligence_chatbot_chat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A1929">
                  <a:alpha val="95000"/>
                </a:srgbClr>
              </a:gs>
              <a:gs pos="60000">
                <a:srgbClr val="0A1929">
                  <a:alpha val="80000"/>
                </a:srgbClr>
              </a:gs>
              <a:gs pos="100000">
                <a:srgbClr val="0A1929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1"/>
          <p:cNvSpPr/>
          <p:nvPr/>
        </p:nvSpPr>
        <p:spPr>
          <a:xfrm>
            <a:off x="6858000" y="2521492"/>
            <a:ext cx="2540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2775492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kern="0" spc="200" dirty="0">
                <a:solidFill>
                  <a:srgbClr val="FFFFFF"/>
                </a:solidFill>
                <a:ea typeface="QuattrocentoSans" pitchFamily="34" charset="-122"/>
                <a:cs typeface="QuattrocentoSans" pitchFamily="34" charset="-120"/>
              </a:rPr>
              <a:t>AI-Powered</a:t>
            </a:r>
            <a:r>
              <a:rPr lang="en-US" sz="40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FAQ Chatbot</a:t>
            </a:r>
            <a:endParaRPr lang="en-US" sz="4000" dirty="0"/>
          </a:p>
          <a:p>
            <a:pPr algn="ctr">
              <a:lnSpc>
                <a:spcPct val="120000"/>
              </a:lnSpc>
            </a:pPr>
            <a:r>
              <a:rPr lang="en-US" sz="40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for MPOnline Services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858000" y="4489992"/>
            <a:ext cx="2540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778000" y="4743992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Ayush Patel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413000" y="5365929"/>
            <a:ext cx="1143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AKS University, Satna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Computer Science &amp; Engineering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8th Semester | Academic Year 2025–2026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Internship Organization: MPOnline Limited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23000" y="7692933"/>
            <a:ext cx="3810000" cy="508000"/>
          </a:xfrm>
          <a:prstGeom prst="roundRect">
            <a:avLst>
              <a:gd name="adj" fmla="val 8000"/>
            </a:avLst>
          </a:prstGeom>
          <a:solidFill>
            <a:srgbClr val="F59E0B">
              <a:alpha val="12549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23000" y="7719059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kern="0" spc="2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B.TECH FINAL YEAR PROJECT</a:t>
            </a:r>
            <a:endParaRPr lang="en-US" sz="16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5916024-125F-95A4-C105-35E9005084EF}"/>
              </a:ext>
            </a:extLst>
          </p:cNvPr>
          <p:cNvSpPr/>
          <p:nvPr/>
        </p:nvSpPr>
        <p:spPr>
          <a:xfrm>
            <a:off x="248193" y="300444"/>
            <a:ext cx="5974807" cy="131934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4D9DC1-CAEE-E5BD-237A-9022E941D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31" y="382267"/>
            <a:ext cx="5249573" cy="1064297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1FB15B1-FB29-BFC1-2BB0-B9BCAE715555}"/>
              </a:ext>
            </a:extLst>
          </p:cNvPr>
          <p:cNvSpPr/>
          <p:nvPr/>
        </p:nvSpPr>
        <p:spPr>
          <a:xfrm>
            <a:off x="10580915" y="457199"/>
            <a:ext cx="5146786" cy="131934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ED20B3B-8CEB-DED7-0C81-B3D93D52A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1768" y="565150"/>
            <a:ext cx="4060604" cy="9433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75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2800" dirty="0">
              <a:latin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1016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2798" y="18038"/>
                </a:moveTo>
                <a:cubicBezTo>
                  <a:pt x="234047" y="13037"/>
                  <a:pt x="223242" y="13037"/>
                  <a:pt x="214402" y="18038"/>
                </a:cubicBezTo>
                <a:lnTo>
                  <a:pt x="14377" y="132338"/>
                </a:lnTo>
                <a:cubicBezTo>
                  <a:pt x="3125" y="138767"/>
                  <a:pt x="-2411" y="151983"/>
                  <a:pt x="893" y="164485"/>
                </a:cubicBezTo>
                <a:cubicBezTo>
                  <a:pt x="4197" y="176986"/>
                  <a:pt x="15627" y="185738"/>
                  <a:pt x="28575" y="185738"/>
                </a:cubicBezTo>
                <a:lnTo>
                  <a:pt x="57150" y="185738"/>
                </a:lnTo>
                <a:lnTo>
                  <a:pt x="57150" y="371475"/>
                </a:lnTo>
                <a:lnTo>
                  <a:pt x="57150" y="371475"/>
                </a:lnTo>
                <a:lnTo>
                  <a:pt x="11430" y="405765"/>
                </a:lnTo>
                <a:cubicBezTo>
                  <a:pt x="4197" y="411123"/>
                  <a:pt x="0" y="419606"/>
                  <a:pt x="0" y="428625"/>
                </a:cubicBezTo>
                <a:cubicBezTo>
                  <a:pt x="0" y="444431"/>
                  <a:pt x="12769" y="457200"/>
                  <a:pt x="28575" y="457200"/>
                </a:cubicBezTo>
                <a:lnTo>
                  <a:pt x="428625" y="457200"/>
                </a:lnTo>
                <a:cubicBezTo>
                  <a:pt x="444431" y="457200"/>
                  <a:pt x="457200" y="444431"/>
                  <a:pt x="457200" y="428625"/>
                </a:cubicBezTo>
                <a:cubicBezTo>
                  <a:pt x="457200" y="419606"/>
                  <a:pt x="453003" y="411123"/>
                  <a:pt x="445770" y="405765"/>
                </a:cubicBezTo>
                <a:lnTo>
                  <a:pt x="400050" y="371475"/>
                </a:lnTo>
                <a:lnTo>
                  <a:pt x="400050" y="185738"/>
                </a:lnTo>
                <a:lnTo>
                  <a:pt x="428625" y="185738"/>
                </a:lnTo>
                <a:cubicBezTo>
                  <a:pt x="441573" y="185738"/>
                  <a:pt x="452914" y="176986"/>
                  <a:pt x="456218" y="164485"/>
                </a:cubicBezTo>
                <a:cubicBezTo>
                  <a:pt x="459522" y="151983"/>
                  <a:pt x="453985" y="138767"/>
                  <a:pt x="442734" y="132338"/>
                </a:cubicBezTo>
                <a:lnTo>
                  <a:pt x="242709" y="18038"/>
                </a:lnTo>
                <a:close/>
                <a:moveTo>
                  <a:pt x="357188" y="185738"/>
                </a:moveTo>
                <a:lnTo>
                  <a:pt x="357188" y="371475"/>
                </a:lnTo>
                <a:lnTo>
                  <a:pt x="300038" y="371475"/>
                </a:lnTo>
                <a:lnTo>
                  <a:pt x="300038" y="185738"/>
                </a:lnTo>
                <a:lnTo>
                  <a:pt x="357188" y="185738"/>
                </a:lnTo>
                <a:close/>
                <a:moveTo>
                  <a:pt x="257175" y="185738"/>
                </a:moveTo>
                <a:lnTo>
                  <a:pt x="257175" y="371475"/>
                </a:lnTo>
                <a:lnTo>
                  <a:pt x="200025" y="371475"/>
                </a:lnTo>
                <a:lnTo>
                  <a:pt x="200025" y="185738"/>
                </a:lnTo>
                <a:lnTo>
                  <a:pt x="257175" y="185738"/>
                </a:lnTo>
                <a:close/>
                <a:moveTo>
                  <a:pt x="157163" y="185738"/>
                </a:moveTo>
                <a:lnTo>
                  <a:pt x="157163" y="371475"/>
                </a:lnTo>
                <a:lnTo>
                  <a:pt x="100013" y="371475"/>
                </a:lnTo>
                <a:lnTo>
                  <a:pt x="100013" y="185738"/>
                </a:lnTo>
                <a:lnTo>
                  <a:pt x="157163" y="185738"/>
                </a:lnTo>
                <a:close/>
                <a:moveTo>
                  <a:pt x="228600" y="85725"/>
                </a:moveTo>
                <a:cubicBezTo>
                  <a:pt x="244371" y="85725"/>
                  <a:pt x="257175" y="98529"/>
                  <a:pt x="257175" y="114300"/>
                </a:cubicBezTo>
                <a:cubicBezTo>
                  <a:pt x="257175" y="130071"/>
                  <a:pt x="244371" y="142875"/>
                  <a:pt x="228600" y="142875"/>
                </a:cubicBezTo>
                <a:cubicBezTo>
                  <a:pt x="212829" y="142875"/>
                  <a:pt x="200025" y="130071"/>
                  <a:pt x="200025" y="114300"/>
                </a:cubicBezTo>
                <a:cubicBezTo>
                  <a:pt x="200025" y="98529"/>
                  <a:pt x="212829" y="85725"/>
                  <a:pt x="228600" y="85725"/>
                </a:cubicBezTo>
                <a:close/>
              </a:path>
            </a:pathLst>
          </a:custGeom>
          <a:solidFill>
            <a:srgbClr val="0F4C75"/>
          </a:solidFill>
          <a:ln/>
        </p:spPr>
      </p:sp>
      <p:sp>
        <p:nvSpPr>
          <p:cNvPr id="6" name="Text 4"/>
          <p:cNvSpPr/>
          <p:nvPr/>
        </p:nvSpPr>
        <p:spPr>
          <a:xfrm>
            <a:off x="1397000" y="1397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4C7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About MPOnline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" y="2032000"/>
            <a:ext cx="14732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MPOnline is Madhya Pradesh's official </a:t>
            </a: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e-Governance portal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delivering </a:t>
            </a: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200+ citizen services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including bill payments, certificates, job applications, and university admissions.</a:t>
            </a:r>
            <a:endParaRPr lang="en-US" sz="2000" dirty="0"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Developed as a joint venture between MPSEDC and TCS, it serves millions of citizens across urban and rural areas through online portals and 28,000+ kiosks.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62000" y="406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228600" y="157163"/>
                </a:moveTo>
                <a:cubicBezTo>
                  <a:pt x="212794" y="157163"/>
                  <a:pt x="200025" y="169932"/>
                  <a:pt x="200025" y="185738"/>
                </a:cubicBezTo>
                <a:cubicBezTo>
                  <a:pt x="200025" y="197614"/>
                  <a:pt x="190470" y="207169"/>
                  <a:pt x="178594" y="207169"/>
                </a:cubicBezTo>
                <a:cubicBezTo>
                  <a:pt x="166717" y="207169"/>
                  <a:pt x="157163" y="197614"/>
                  <a:pt x="157163" y="185738"/>
                </a:cubicBezTo>
                <a:cubicBezTo>
                  <a:pt x="157163" y="146268"/>
                  <a:pt x="189131" y="114300"/>
                  <a:pt x="228600" y="114300"/>
                </a:cubicBezTo>
                <a:cubicBezTo>
                  <a:pt x="268069" y="114300"/>
                  <a:pt x="300038" y="146268"/>
                  <a:pt x="300038" y="185738"/>
                </a:cubicBezTo>
                <a:cubicBezTo>
                  <a:pt x="300038" y="227886"/>
                  <a:pt x="267891" y="245745"/>
                  <a:pt x="250031" y="252264"/>
                </a:cubicBezTo>
                <a:lnTo>
                  <a:pt x="250031" y="255657"/>
                </a:lnTo>
                <a:cubicBezTo>
                  <a:pt x="250031" y="267533"/>
                  <a:pt x="240476" y="277088"/>
                  <a:pt x="228600" y="277088"/>
                </a:cubicBezTo>
                <a:cubicBezTo>
                  <a:pt x="216724" y="277088"/>
                  <a:pt x="207169" y="267533"/>
                  <a:pt x="207169" y="255657"/>
                </a:cubicBezTo>
                <a:lnTo>
                  <a:pt x="207169" y="248424"/>
                </a:lnTo>
                <a:cubicBezTo>
                  <a:pt x="207169" y="230118"/>
                  <a:pt x="220385" y="216991"/>
                  <a:pt x="234047" y="212527"/>
                </a:cubicBezTo>
                <a:cubicBezTo>
                  <a:pt x="239762" y="210651"/>
                  <a:pt x="245834" y="207615"/>
                  <a:pt x="250299" y="203329"/>
                </a:cubicBezTo>
                <a:cubicBezTo>
                  <a:pt x="254139" y="199579"/>
                  <a:pt x="257175" y="194399"/>
                  <a:pt x="257175" y="185827"/>
                </a:cubicBezTo>
                <a:cubicBezTo>
                  <a:pt x="257175" y="170021"/>
                  <a:pt x="244406" y="157252"/>
                  <a:pt x="228600" y="157252"/>
                </a:cubicBezTo>
                <a:close/>
                <a:moveTo>
                  <a:pt x="200025" y="328613"/>
                </a:moveTo>
                <a:cubicBezTo>
                  <a:pt x="200025" y="312842"/>
                  <a:pt x="212829" y="300038"/>
                  <a:pt x="228600" y="300038"/>
                </a:cubicBezTo>
                <a:cubicBezTo>
                  <a:pt x="244371" y="300038"/>
                  <a:pt x="257175" y="312842"/>
                  <a:pt x="257175" y="328613"/>
                </a:cubicBezTo>
                <a:cubicBezTo>
                  <a:pt x="257175" y="344383"/>
                  <a:pt x="244371" y="357188"/>
                  <a:pt x="228600" y="357188"/>
                </a:cubicBezTo>
                <a:cubicBezTo>
                  <a:pt x="212829" y="357188"/>
                  <a:pt x="200025" y="344383"/>
                  <a:pt x="200025" y="328613"/>
                </a:cubicBezTo>
                <a:close/>
              </a:path>
            </a:pathLst>
          </a:custGeom>
          <a:solidFill>
            <a:srgbClr val="0F4C75"/>
          </a:solidFill>
          <a:ln/>
        </p:spPr>
      </p:sp>
      <p:sp>
        <p:nvSpPr>
          <p:cNvPr id="9" name="Text 7"/>
          <p:cNvSpPr/>
          <p:nvPr/>
        </p:nvSpPr>
        <p:spPr>
          <a:xfrm>
            <a:off x="1397000" y="4064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F4C7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Challenge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4699000"/>
            <a:ext cx="14732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Citizens face challenges navigating </a:t>
            </a: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complex government procedures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and finding accurate information quickly. Manual browsing and helpline calls create delays and frustration.</a:t>
            </a:r>
            <a:endParaRPr lang="en-US" sz="2000" dirty="0"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An </a:t>
            </a: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AI-powered FAQ chatbot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bridges this gap by providing instant, accurate, context-aware answers to user queries about MPOnline services.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6985000"/>
            <a:ext cx="14732000" cy="1524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2000" y="6985000"/>
            <a:ext cx="76200" cy="1524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2200" y="7175500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Goal: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Implement a </a:t>
            </a: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RAG-based chatbot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combines </a:t>
            </a: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FAISS vector search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</a:t>
            </a: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generation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automate user query resolution for MPOnline services.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75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Problem Statement</a:t>
            </a:r>
            <a:endParaRPr lang="en-US" sz="2800" dirty="0">
              <a:latin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1016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622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Complex Service Procedures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— Users struggle to understand multi-step government processes for certificates, bill payments, and job applications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Scattered Documentation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— Information is spread across multiple pages and PDFs, making it hard to find relevant answers quickly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Long Response Times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— Support helplines and manual browsing create significant delays in getting help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No Intelligent Query Handling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— Existing systems lack AI capability; users must browse manually or wait for human support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No 24/7 Automated Assistance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— Citizens need round-the-clock help, especially in rural areas with limited kiosk hours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Non-Searchable Documents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— Document-based information is not AI-accessible or searchable by natural language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2000" y="7747000"/>
            <a:ext cx="14732000" cy="508000"/>
          </a:xfrm>
          <a:prstGeom prst="roundRect">
            <a:avLst>
              <a:gd name="adj" fmla="val 3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2200" y="7810500"/>
            <a:ext cx="1409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Need:</a:t>
            </a:r>
            <a:r>
              <a:rPr lang="en-US" sz="1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smart system that understands </a:t>
            </a:r>
            <a:r>
              <a:rPr lang="en-US" sz="18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natural language</a:t>
            </a:r>
            <a:r>
              <a:rPr lang="en-US" sz="1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retrieves </a:t>
            </a:r>
            <a:r>
              <a:rPr lang="en-US" sz="18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accurate context-based answers</a:t>
            </a:r>
            <a:r>
              <a:rPr lang="en-US" sz="1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instantly.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75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Objective</a:t>
            </a:r>
            <a:endParaRPr lang="en-US" sz="2800" dirty="0">
              <a:latin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1016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Develop an </a:t>
            </a: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AI chatbot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to answer MPOnline service queries using </a:t>
            </a: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RAG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(Retrieval-Augmented Generation)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Enable </a:t>
            </a: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public access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(no login required) alongside </a:t>
            </a: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authenticated user features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with JWT-based security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Support </a:t>
            </a: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document upload with OCR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(</a:t>
            </a: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Tesseract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) to dynamically expand the knowledge base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Implement </a:t>
            </a: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grievance registration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expert escalation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for unresolved or complex queries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Build an </a:t>
            </a: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admin dashboard with analytics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for monitoring chatbot performance and user activity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Ensure </a:t>
            </a: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accurate, context-aware responses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using </a:t>
            </a: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FAISS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vector search + </a:t>
            </a: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OpenAI / Gemini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AI models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75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System Overview</a:t>
            </a:r>
            <a:endParaRPr lang="en-US" sz="2800" dirty="0">
              <a:latin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1016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4572000" cy="2286000"/>
          </a:xfrm>
          <a:prstGeom prst="roundRect">
            <a:avLst>
              <a:gd name="adj" fmla="val 3000"/>
            </a:avLst>
          </a:prstGeom>
          <a:solidFill>
            <a:srgbClr val="0F4C75"/>
          </a:solidFill>
          <a:ln/>
        </p:spPr>
      </p:sp>
      <p:sp>
        <p:nvSpPr>
          <p:cNvPr id="6" name="Shape 4"/>
          <p:cNvSpPr/>
          <p:nvPr/>
        </p:nvSpPr>
        <p:spPr>
          <a:xfrm>
            <a:off x="2667000" y="152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349250"/>
                </a:lnTo>
                <a:cubicBezTo>
                  <a:pt x="0" y="384274"/>
                  <a:pt x="28476" y="412750"/>
                  <a:pt x="63500" y="412750"/>
                </a:cubicBezTo>
                <a:lnTo>
                  <a:pt x="206375" y="412750"/>
                </a:lnTo>
                <a:lnTo>
                  <a:pt x="190500" y="460375"/>
                </a:lnTo>
                <a:lnTo>
                  <a:pt x="119063" y="460375"/>
                </a:lnTo>
                <a:cubicBezTo>
                  <a:pt x="105866" y="460375"/>
                  <a:pt x="95250" y="470991"/>
                  <a:pt x="95250" y="484187"/>
                </a:cubicBezTo>
                <a:cubicBezTo>
                  <a:pt x="95250" y="497384"/>
                  <a:pt x="105866" y="508000"/>
                  <a:pt x="119063" y="508000"/>
                </a:cubicBezTo>
                <a:lnTo>
                  <a:pt x="388938" y="508000"/>
                </a:lnTo>
                <a:cubicBezTo>
                  <a:pt x="402134" y="508000"/>
                  <a:pt x="412750" y="497384"/>
                  <a:pt x="412750" y="484187"/>
                </a:cubicBezTo>
                <a:cubicBezTo>
                  <a:pt x="412750" y="470991"/>
                  <a:pt x="402134" y="460375"/>
                  <a:pt x="388938" y="460375"/>
                </a:cubicBezTo>
                <a:lnTo>
                  <a:pt x="317500" y="460375"/>
                </a:lnTo>
                <a:lnTo>
                  <a:pt x="301625" y="412750"/>
                </a:lnTo>
                <a:lnTo>
                  <a:pt x="444500" y="412750"/>
                </a:lnTo>
                <a:cubicBezTo>
                  <a:pt x="479524" y="412750"/>
                  <a:pt x="508000" y="384274"/>
                  <a:pt x="508000" y="349250"/>
                </a:cubicBezTo>
                <a:lnTo>
                  <a:pt x="508000" y="95250"/>
                </a:lnTo>
                <a:cubicBezTo>
                  <a:pt x="508000" y="60226"/>
                  <a:pt x="479524" y="31750"/>
                  <a:pt x="444500" y="31750"/>
                </a:cubicBezTo>
                <a:lnTo>
                  <a:pt x="63500" y="31750"/>
                </a:lnTo>
                <a:close/>
                <a:moveTo>
                  <a:pt x="95250" y="95250"/>
                </a:moveTo>
                <a:lnTo>
                  <a:pt x="412750" y="95250"/>
                </a:lnTo>
                <a:cubicBezTo>
                  <a:pt x="430312" y="95250"/>
                  <a:pt x="444500" y="109438"/>
                  <a:pt x="444500" y="127000"/>
                </a:cubicBezTo>
                <a:lnTo>
                  <a:pt x="444500" y="285750"/>
                </a:lnTo>
                <a:cubicBezTo>
                  <a:pt x="444500" y="303312"/>
                  <a:pt x="430312" y="317500"/>
                  <a:pt x="412750" y="317500"/>
                </a:cubicBezTo>
                <a:lnTo>
                  <a:pt x="95250" y="317500"/>
                </a:lnTo>
                <a:cubicBezTo>
                  <a:pt x="77688" y="317500"/>
                  <a:pt x="63500" y="303312"/>
                  <a:pt x="63500" y="285750"/>
                </a:cubicBezTo>
                <a:lnTo>
                  <a:pt x="63500" y="127000"/>
                </a:lnTo>
                <a:cubicBezTo>
                  <a:pt x="63500" y="109438"/>
                  <a:pt x="77688" y="95250"/>
                  <a:pt x="95250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159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 Layer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6000" y="2603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React.js (Vite)</a:t>
            </a:r>
            <a:endParaRPr lang="en-US" sz="1600" dirty="0">
              <a:latin typeface="Calibri" panose="020F0502020204030204" pitchFamily="34" charset="0"/>
            </a:endParaRPr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Chat UI, Auth, Admin Dashboard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42000" y="1333500"/>
            <a:ext cx="4572000" cy="2286000"/>
          </a:xfrm>
          <a:prstGeom prst="roundRect">
            <a:avLst>
              <a:gd name="adj" fmla="val 3000"/>
            </a:avLst>
          </a:prstGeom>
          <a:solidFill>
            <a:srgbClr val="0F4C75"/>
          </a:solidFill>
          <a:ln/>
        </p:spPr>
      </p:sp>
      <p:sp>
        <p:nvSpPr>
          <p:cNvPr id="10" name="Shape 8"/>
          <p:cNvSpPr/>
          <p:nvPr/>
        </p:nvSpPr>
        <p:spPr>
          <a:xfrm>
            <a:off x="7778750" y="1524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158750"/>
                </a:lnTo>
                <a:cubicBezTo>
                  <a:pt x="0" y="193774"/>
                  <a:pt x="28476" y="222250"/>
                  <a:pt x="63500" y="222250"/>
                </a:cubicBezTo>
                <a:lnTo>
                  <a:pt x="381000" y="222250"/>
                </a:lnTo>
                <a:cubicBezTo>
                  <a:pt x="416024" y="222250"/>
                  <a:pt x="444500" y="193774"/>
                  <a:pt x="444500" y="158750"/>
                </a:cubicBezTo>
                <a:lnTo>
                  <a:pt x="444500" y="95250"/>
                </a:lnTo>
                <a:cubicBezTo>
                  <a:pt x="444500" y="60226"/>
                  <a:pt x="416024" y="31750"/>
                  <a:pt x="381000" y="31750"/>
                </a:cubicBezTo>
                <a:lnTo>
                  <a:pt x="63500" y="31750"/>
                </a:lnTo>
                <a:close/>
                <a:moveTo>
                  <a:pt x="277813" y="103188"/>
                </a:moveTo>
                <a:cubicBezTo>
                  <a:pt x="290955" y="103188"/>
                  <a:pt x="301625" y="113858"/>
                  <a:pt x="301625" y="127000"/>
                </a:cubicBezTo>
                <a:cubicBezTo>
                  <a:pt x="301625" y="140142"/>
                  <a:pt x="290955" y="150813"/>
                  <a:pt x="277813" y="150813"/>
                </a:cubicBezTo>
                <a:cubicBezTo>
                  <a:pt x="264670" y="150813"/>
                  <a:pt x="254000" y="140142"/>
                  <a:pt x="254000" y="127000"/>
                </a:cubicBezTo>
                <a:cubicBezTo>
                  <a:pt x="254000" y="113858"/>
                  <a:pt x="264670" y="103188"/>
                  <a:pt x="277813" y="103188"/>
                </a:cubicBezTo>
                <a:close/>
                <a:moveTo>
                  <a:pt x="333375" y="127000"/>
                </a:moveTo>
                <a:cubicBezTo>
                  <a:pt x="333375" y="113858"/>
                  <a:pt x="344045" y="103188"/>
                  <a:pt x="357188" y="103188"/>
                </a:cubicBezTo>
                <a:cubicBezTo>
                  <a:pt x="370330" y="103188"/>
                  <a:pt x="381000" y="113858"/>
                  <a:pt x="381000" y="127000"/>
                </a:cubicBezTo>
                <a:cubicBezTo>
                  <a:pt x="381000" y="140142"/>
                  <a:pt x="370330" y="150813"/>
                  <a:pt x="357188" y="150813"/>
                </a:cubicBezTo>
                <a:cubicBezTo>
                  <a:pt x="344045" y="150813"/>
                  <a:pt x="333375" y="140142"/>
                  <a:pt x="333375" y="127000"/>
                </a:cubicBezTo>
                <a:close/>
                <a:moveTo>
                  <a:pt x="63500" y="285750"/>
                </a:moveTo>
                <a:cubicBezTo>
                  <a:pt x="28476" y="285750"/>
                  <a:pt x="0" y="314226"/>
                  <a:pt x="0" y="349250"/>
                </a:cubicBezTo>
                <a:lnTo>
                  <a:pt x="0" y="412750"/>
                </a:lnTo>
                <a:cubicBezTo>
                  <a:pt x="0" y="447774"/>
                  <a:pt x="28476" y="476250"/>
                  <a:pt x="63500" y="476250"/>
                </a:cubicBezTo>
                <a:lnTo>
                  <a:pt x="381000" y="476250"/>
                </a:lnTo>
                <a:cubicBezTo>
                  <a:pt x="416024" y="476250"/>
                  <a:pt x="444500" y="447774"/>
                  <a:pt x="444500" y="412750"/>
                </a:cubicBezTo>
                <a:lnTo>
                  <a:pt x="444500" y="349250"/>
                </a:lnTo>
                <a:cubicBezTo>
                  <a:pt x="444500" y="314226"/>
                  <a:pt x="416024" y="285750"/>
                  <a:pt x="381000" y="285750"/>
                </a:cubicBezTo>
                <a:lnTo>
                  <a:pt x="63500" y="285750"/>
                </a:lnTo>
                <a:close/>
                <a:moveTo>
                  <a:pt x="277813" y="357188"/>
                </a:moveTo>
                <a:cubicBezTo>
                  <a:pt x="290955" y="357188"/>
                  <a:pt x="301625" y="367858"/>
                  <a:pt x="301625" y="381000"/>
                </a:cubicBezTo>
                <a:cubicBezTo>
                  <a:pt x="301625" y="394142"/>
                  <a:pt x="290955" y="404813"/>
                  <a:pt x="277813" y="404813"/>
                </a:cubicBezTo>
                <a:cubicBezTo>
                  <a:pt x="264670" y="404813"/>
                  <a:pt x="254000" y="394142"/>
                  <a:pt x="254000" y="381000"/>
                </a:cubicBezTo>
                <a:cubicBezTo>
                  <a:pt x="254000" y="367858"/>
                  <a:pt x="264670" y="357188"/>
                  <a:pt x="277813" y="357188"/>
                </a:cubicBezTo>
                <a:close/>
                <a:moveTo>
                  <a:pt x="333375" y="381000"/>
                </a:moveTo>
                <a:cubicBezTo>
                  <a:pt x="333375" y="367858"/>
                  <a:pt x="344045" y="357188"/>
                  <a:pt x="357188" y="357188"/>
                </a:cubicBezTo>
                <a:cubicBezTo>
                  <a:pt x="370330" y="357188"/>
                  <a:pt x="381000" y="367858"/>
                  <a:pt x="381000" y="381000"/>
                </a:cubicBezTo>
                <a:cubicBezTo>
                  <a:pt x="381000" y="394142"/>
                  <a:pt x="370330" y="404813"/>
                  <a:pt x="357188" y="404813"/>
                </a:cubicBezTo>
                <a:cubicBezTo>
                  <a:pt x="344045" y="404813"/>
                  <a:pt x="333375" y="394142"/>
                  <a:pt x="333375" y="3810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0" y="2159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 Layer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0" y="2603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FastAPI (Python)</a:t>
            </a:r>
            <a:endParaRPr lang="en-US" sz="1600" dirty="0">
              <a:latin typeface="Calibri" panose="020F0502020204030204" pitchFamily="34" charset="0"/>
            </a:endParaRPr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APIs, Auth, Business Logic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922000" y="1333500"/>
            <a:ext cx="4572000" cy="2286000"/>
          </a:xfrm>
          <a:prstGeom prst="roundRect">
            <a:avLst>
              <a:gd name="adj" fmla="val 3000"/>
            </a:avLst>
          </a:prstGeom>
          <a:solidFill>
            <a:srgbClr val="0F4C75"/>
          </a:solidFill>
          <a:ln/>
        </p:spPr>
      </p:sp>
      <p:sp>
        <p:nvSpPr>
          <p:cNvPr id="14" name="Shape 12"/>
          <p:cNvSpPr/>
          <p:nvPr/>
        </p:nvSpPr>
        <p:spPr>
          <a:xfrm>
            <a:off x="12858750" y="1524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444500" y="204192"/>
                </a:moveTo>
                <a:cubicBezTo>
                  <a:pt x="429816" y="213916"/>
                  <a:pt x="412948" y="221754"/>
                  <a:pt x="395387" y="228005"/>
                </a:cubicBezTo>
                <a:cubicBezTo>
                  <a:pt x="348754" y="244673"/>
                  <a:pt x="287536" y="254000"/>
                  <a:pt x="222250" y="254000"/>
                </a:cubicBezTo>
                <a:cubicBezTo>
                  <a:pt x="156964" y="254000"/>
                  <a:pt x="95647" y="244574"/>
                  <a:pt x="49113" y="228005"/>
                </a:cubicBezTo>
                <a:cubicBezTo>
                  <a:pt x="31651" y="221754"/>
                  <a:pt x="14684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99516" y="365125"/>
                  <a:pt x="222250" y="365125"/>
                </a:cubicBezTo>
                <a:cubicBezTo>
                  <a:pt x="344984" y="365125"/>
                  <a:pt x="444500" y="329605"/>
                  <a:pt x="444500" y="285750"/>
                </a:cubicBezTo>
                <a:lnTo>
                  <a:pt x="444500" y="204192"/>
                </a:lnTo>
                <a:close/>
                <a:moveTo>
                  <a:pt x="444500" y="127000"/>
                </a:moveTo>
                <a:lnTo>
                  <a:pt x="444500" y="79375"/>
                </a:lnTo>
                <a:cubicBezTo>
                  <a:pt x="444500" y="35520"/>
                  <a:pt x="344984" y="0"/>
                  <a:pt x="222250" y="0"/>
                </a:cubicBezTo>
                <a:cubicBezTo>
                  <a:pt x="99516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99516" y="206375"/>
                  <a:pt x="222250" y="206375"/>
                </a:cubicBezTo>
                <a:cubicBezTo>
                  <a:pt x="344984" y="206375"/>
                  <a:pt x="444500" y="170855"/>
                  <a:pt x="444500" y="127000"/>
                </a:cubicBezTo>
                <a:close/>
                <a:moveTo>
                  <a:pt x="395387" y="386755"/>
                </a:moveTo>
                <a:cubicBezTo>
                  <a:pt x="348853" y="403324"/>
                  <a:pt x="287635" y="412750"/>
                  <a:pt x="222250" y="412750"/>
                </a:cubicBezTo>
                <a:cubicBezTo>
                  <a:pt x="156865" y="412750"/>
                  <a:pt x="95647" y="403324"/>
                  <a:pt x="49113" y="386755"/>
                </a:cubicBezTo>
                <a:cubicBezTo>
                  <a:pt x="31651" y="380504"/>
                  <a:pt x="14684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99516" y="508000"/>
                  <a:pt x="222250" y="508000"/>
                </a:cubicBezTo>
                <a:cubicBezTo>
                  <a:pt x="344984" y="508000"/>
                  <a:pt x="444500" y="472480"/>
                  <a:pt x="444500" y="428625"/>
                </a:cubicBezTo>
                <a:lnTo>
                  <a:pt x="444500" y="362942"/>
                </a:lnTo>
                <a:cubicBezTo>
                  <a:pt x="429816" y="372666"/>
                  <a:pt x="412948" y="380504"/>
                  <a:pt x="395387" y="38675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176000" y="2159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/ AI Layer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176000" y="2603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PostgreSQL + FAISS + AI Models</a:t>
            </a:r>
            <a:endParaRPr lang="en-US" sz="1600" dirty="0">
              <a:latin typeface="Calibri" panose="020F0502020204030204" pitchFamily="34" charset="0"/>
            </a:endParaRPr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Storage, Vector Search, Generation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334000" y="2349500"/>
            <a:ext cx="508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0414000" y="2349500"/>
            <a:ext cx="508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762000" y="4064000"/>
            <a:ext cx="14732000" cy="2159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2200" y="419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7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Access Levels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292225" y="4826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172244"/>
                </a:moveTo>
                <a:cubicBezTo>
                  <a:pt x="201574" y="172244"/>
                  <a:pt x="238919" y="134899"/>
                  <a:pt x="238919" y="88900"/>
                </a:cubicBezTo>
                <a:cubicBezTo>
                  <a:pt x="238919" y="42901"/>
                  <a:pt x="201574" y="5556"/>
                  <a:pt x="155575" y="5556"/>
                </a:cubicBezTo>
                <a:cubicBezTo>
                  <a:pt x="109576" y="5556"/>
                  <a:pt x="72231" y="42901"/>
                  <a:pt x="72231" y="88900"/>
                </a:cubicBezTo>
                <a:cubicBezTo>
                  <a:pt x="72231" y="134899"/>
                  <a:pt x="109576" y="172244"/>
                  <a:pt x="155575" y="172244"/>
                </a:cubicBezTo>
                <a:close/>
                <a:moveTo>
                  <a:pt x="134947" y="211138"/>
                </a:moveTo>
                <a:cubicBezTo>
                  <a:pt x="66536" y="211138"/>
                  <a:pt x="11112" y="266561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279410" y="355600"/>
                </a:lnTo>
                <a:cubicBezTo>
                  <a:pt x="290800" y="355600"/>
                  <a:pt x="300038" y="346363"/>
                  <a:pt x="300038" y="334972"/>
                </a:cubicBezTo>
                <a:cubicBezTo>
                  <a:pt x="300038" y="266561"/>
                  <a:pt x="244614" y="211138"/>
                  <a:pt x="176203" y="211138"/>
                </a:cubicBezTo>
                <a:lnTo>
                  <a:pt x="134947" y="21113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778000" y="47625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Users</a:t>
            </a:r>
            <a:endParaRPr lang="en-US" sz="1600" dirty="0">
              <a:latin typeface="Calibri" panose="020F050202020403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Instant answers without login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597775" y="4826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55575" y="172244"/>
                </a:moveTo>
                <a:cubicBezTo>
                  <a:pt x="201574" y="172244"/>
                  <a:pt x="238919" y="134899"/>
                  <a:pt x="238919" y="88900"/>
                </a:cubicBezTo>
                <a:cubicBezTo>
                  <a:pt x="238919" y="42901"/>
                  <a:pt x="201574" y="5556"/>
                  <a:pt x="155575" y="5556"/>
                </a:cubicBezTo>
                <a:cubicBezTo>
                  <a:pt x="109576" y="5556"/>
                  <a:pt x="72231" y="42901"/>
                  <a:pt x="72231" y="88900"/>
                </a:cubicBezTo>
                <a:cubicBezTo>
                  <a:pt x="72231" y="134899"/>
                  <a:pt x="109576" y="172244"/>
                  <a:pt x="155575" y="172244"/>
                </a:cubicBezTo>
                <a:close/>
                <a:moveTo>
                  <a:pt x="134947" y="211138"/>
                </a:moveTo>
                <a:cubicBezTo>
                  <a:pt x="66536" y="211138"/>
                  <a:pt x="11112" y="266561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206415" y="355600"/>
                </a:lnTo>
                <a:cubicBezTo>
                  <a:pt x="181273" y="326013"/>
                  <a:pt x="166688" y="287883"/>
                  <a:pt x="166688" y="247531"/>
                </a:cubicBezTo>
                <a:lnTo>
                  <a:pt x="166688" y="225931"/>
                </a:lnTo>
                <a:cubicBezTo>
                  <a:pt x="166688" y="220861"/>
                  <a:pt x="167382" y="215860"/>
                  <a:pt x="168702" y="211137"/>
                </a:cubicBezTo>
                <a:lnTo>
                  <a:pt x="134947" y="211137"/>
                </a:lnTo>
                <a:close/>
                <a:moveTo>
                  <a:pt x="309275" y="339279"/>
                </a:moveTo>
                <a:lnTo>
                  <a:pt x="300038" y="343654"/>
                </a:lnTo>
                <a:lnTo>
                  <a:pt x="300038" y="213013"/>
                </a:lnTo>
                <a:lnTo>
                  <a:pt x="366712" y="235238"/>
                </a:lnTo>
                <a:lnTo>
                  <a:pt x="366712" y="248851"/>
                </a:lnTo>
                <a:cubicBezTo>
                  <a:pt x="366712" y="287605"/>
                  <a:pt x="344349" y="322818"/>
                  <a:pt x="309275" y="339348"/>
                </a:cubicBezTo>
                <a:close/>
                <a:moveTo>
                  <a:pt x="293023" y="180231"/>
                </a:moveTo>
                <a:lnTo>
                  <a:pt x="215235" y="206137"/>
                </a:lnTo>
                <a:cubicBezTo>
                  <a:pt x="206137" y="209193"/>
                  <a:pt x="200025" y="217666"/>
                  <a:pt x="200025" y="227251"/>
                </a:cubicBezTo>
                <a:lnTo>
                  <a:pt x="200025" y="248851"/>
                </a:lnTo>
                <a:cubicBezTo>
                  <a:pt x="200025" y="300524"/>
                  <a:pt x="229890" y="347543"/>
                  <a:pt x="276562" y="369491"/>
                </a:cubicBezTo>
                <a:lnTo>
                  <a:pt x="289411" y="375533"/>
                </a:lnTo>
                <a:cubicBezTo>
                  <a:pt x="292745" y="377061"/>
                  <a:pt x="296356" y="377894"/>
                  <a:pt x="299968" y="377894"/>
                </a:cubicBezTo>
                <a:cubicBezTo>
                  <a:pt x="303580" y="377894"/>
                  <a:pt x="307261" y="377061"/>
                  <a:pt x="310525" y="375533"/>
                </a:cubicBezTo>
                <a:lnTo>
                  <a:pt x="323374" y="369491"/>
                </a:lnTo>
                <a:cubicBezTo>
                  <a:pt x="370185" y="347474"/>
                  <a:pt x="400050" y="300454"/>
                  <a:pt x="400050" y="248781"/>
                </a:cubicBezTo>
                <a:lnTo>
                  <a:pt x="400050" y="227181"/>
                </a:lnTo>
                <a:cubicBezTo>
                  <a:pt x="400050" y="217597"/>
                  <a:pt x="393938" y="209123"/>
                  <a:pt x="384840" y="206067"/>
                </a:cubicBezTo>
                <a:lnTo>
                  <a:pt x="307052" y="180161"/>
                </a:lnTo>
                <a:cubicBezTo>
                  <a:pt x="302468" y="178633"/>
                  <a:pt x="297537" y="178633"/>
                  <a:pt x="293023" y="180161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8128000" y="47625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Authenticated Users</a:t>
            </a:r>
            <a:endParaRPr lang="en-US" sz="1600" dirty="0">
              <a:latin typeface="Calibri" panose="020F050202020403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Chat history, grievance, feedback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2700000" y="482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13208000" y="4762500"/>
            <a:ext cx="2222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Dashboard</a:t>
            </a:r>
            <a:endParaRPr lang="en-US" sz="1600" dirty="0">
              <a:latin typeface="Calibri" panose="020F050202020403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Analytics, monitoring, management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62000" y="6477000"/>
            <a:ext cx="1473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System Flow: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Users interact via React frontend → FastAPI backend processes requests → PostgreSQL stores user data, FAISS handles vector search, and OpenAI/Gemini generates answers.</a:t>
            </a:r>
            <a:endParaRPr lang="en-US" sz="2000" dirty="0"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Public users get instant responses. Authenticated users unlock chat history, grievance submission, and feedback. Admins monitor everything through the analytics dashboard.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75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Technology Stack</a:t>
            </a:r>
            <a:endParaRPr lang="en-US" sz="2800" dirty="0">
              <a:latin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1016000" cy="38100"/>
          </a:xfrm>
          <a:prstGeom prst="rect">
            <a:avLst/>
          </a:prstGeom>
          <a:solidFill>
            <a:srgbClr val="F59E0B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68705"/>
              </p:ext>
            </p:extLst>
          </p:nvPr>
        </p:nvGraphicFramePr>
        <p:xfrm>
          <a:off x="762000" y="1397000"/>
          <a:ext cx="14732000" cy="6730999"/>
        </p:xfrm>
        <a:graphic>
          <a:graphicData uri="http://schemas.openxmlformats.org/drawingml/2006/table">
            <a:tbl>
              <a:tblPr/>
              <a:tblGrid>
                <a:gridCol w="36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939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Layer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Technology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39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Frontend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59E0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React.js (Vite)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Modern, fast, component-based UI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39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Backend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59E0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FastAPI (Python)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High-performance async API framework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39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Database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59E0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PostgreSQL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Relational data storage for users, chats, grievances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39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Vector DB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59E0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FAISS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Efficient similarity search for document embeddings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939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AI Models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59E0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OpenAI / Gemini API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Natural language generation and answer synthesis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939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OCR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59E0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Tesseract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Text extraction from uploaded PDFs and images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939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Auth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59E0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JWT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Secure token-based authentication system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15879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Deployment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Node.js + Uvicorn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Production-ready server environment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75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Architecture Diagram</a:t>
            </a:r>
            <a:endParaRPr lang="en-US" sz="2800" dirty="0">
              <a:latin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1016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13335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0F4C7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13335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(Browser)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74000" y="1968500"/>
            <a:ext cx="0" cy="44450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6223000" y="2413000"/>
            <a:ext cx="3810000" cy="698500"/>
          </a:xfrm>
          <a:prstGeom prst="roundRect">
            <a:avLst>
              <a:gd name="adj" fmla="val 8000"/>
            </a:avLst>
          </a:prstGeom>
          <a:solidFill>
            <a:srgbClr val="1E5A8A"/>
          </a:solidFill>
          <a:ln/>
        </p:spPr>
      </p:sp>
      <p:sp>
        <p:nvSpPr>
          <p:cNvPr id="9" name="Text 7"/>
          <p:cNvSpPr/>
          <p:nvPr/>
        </p:nvSpPr>
        <p:spPr>
          <a:xfrm>
            <a:off x="6223000" y="2413000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React.js Frontend (Vite)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74000" y="3111500"/>
            <a:ext cx="0" cy="44450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6223000" y="3556000"/>
            <a:ext cx="3810000" cy="698500"/>
          </a:xfrm>
          <a:prstGeom prst="roundRect">
            <a:avLst>
              <a:gd name="adj" fmla="val 8000"/>
            </a:avLst>
          </a:prstGeom>
          <a:solidFill>
            <a:srgbClr val="0F4C75"/>
          </a:solidFill>
          <a:ln/>
        </p:spPr>
      </p:sp>
      <p:sp>
        <p:nvSpPr>
          <p:cNvPr id="12" name="Text 10"/>
          <p:cNvSpPr/>
          <p:nvPr/>
        </p:nvSpPr>
        <p:spPr>
          <a:xfrm>
            <a:off x="6223000" y="3556000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FastAPI Backend (Python)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74000" y="4254500"/>
            <a:ext cx="0" cy="38100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810000" y="4635500"/>
            <a:ext cx="8636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3810000" y="4635500"/>
            <a:ext cx="0" cy="38100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8128000" y="4635500"/>
            <a:ext cx="0" cy="38100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2446000" y="4635500"/>
            <a:ext cx="0" cy="38100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2286000" y="5016500"/>
            <a:ext cx="3048000" cy="889000"/>
          </a:xfrm>
          <a:prstGeom prst="roundRect">
            <a:avLst>
              <a:gd name="adj" fmla="val 8000"/>
            </a:avLst>
          </a:prstGeom>
          <a:solidFill>
            <a:srgbClr val="0F4C75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50165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PostgreSQL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Users, Chats, Grievances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04000" y="5016500"/>
            <a:ext cx="3048000" cy="889000"/>
          </a:xfrm>
          <a:prstGeom prst="roundRect">
            <a:avLst>
              <a:gd name="adj" fmla="val 8000"/>
            </a:avLst>
          </a:prstGeom>
          <a:solidFill>
            <a:srgbClr val="0F4C75"/>
          </a:solidFill>
          <a:ln/>
        </p:spPr>
      </p:sp>
      <p:sp>
        <p:nvSpPr>
          <p:cNvPr id="21" name="Text 19"/>
          <p:cNvSpPr/>
          <p:nvPr/>
        </p:nvSpPr>
        <p:spPr>
          <a:xfrm>
            <a:off x="6604000" y="50165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FAISS Vector DB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Embedding Search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922000" y="5016500"/>
            <a:ext cx="3048000" cy="889000"/>
          </a:xfrm>
          <a:prstGeom prst="roundRect">
            <a:avLst>
              <a:gd name="adj" fmla="val 8000"/>
            </a:avLst>
          </a:prstGeom>
          <a:solidFill>
            <a:srgbClr val="0F4C75"/>
          </a:solidFill>
          <a:ln/>
        </p:spPr>
      </p:sp>
      <p:sp>
        <p:nvSpPr>
          <p:cNvPr id="23" name="Text 21"/>
          <p:cNvSpPr/>
          <p:nvPr/>
        </p:nvSpPr>
        <p:spPr>
          <a:xfrm>
            <a:off x="10922000" y="50165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OpenAI / Gemini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Answer Generation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0" y="5905500"/>
            <a:ext cx="0" cy="381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arrow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128000" y="5905500"/>
            <a:ext cx="0" cy="381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arrow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2446000" y="5905500"/>
            <a:ext cx="0" cy="381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arrow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3810000" y="6286500"/>
            <a:ext cx="8636000" cy="254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Shape 26"/>
          <p:cNvSpPr/>
          <p:nvPr/>
        </p:nvSpPr>
        <p:spPr>
          <a:xfrm>
            <a:off x="7874000" y="6286500"/>
            <a:ext cx="0" cy="4445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6858000" y="6731000"/>
            <a:ext cx="2540000" cy="571500"/>
          </a:xfrm>
          <a:prstGeom prst="roundRect">
            <a:avLst>
              <a:gd name="adj" fmla="val 8000"/>
            </a:avLst>
          </a:prstGeom>
          <a:solidFill>
            <a:srgbClr val="1E5A8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6731000"/>
            <a:ext cx="25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Answer to User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7620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 Upload Flow: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8001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PDF / Image → </a:t>
            </a:r>
            <a:r>
              <a:rPr lang="en-US" sz="1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Tesseract OCR</a:t>
            </a: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Text Chunks → Embeddings → </a:t>
            </a:r>
            <a:r>
              <a:rPr lang="en-US" sz="1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FAISS Index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75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RAG Workflow</a:t>
            </a:r>
            <a:endParaRPr lang="en-US" sz="2800" dirty="0">
              <a:latin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1016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97000"/>
            <a:ext cx="1778000" cy="698500"/>
          </a:xfrm>
          <a:prstGeom prst="roundRect">
            <a:avLst>
              <a:gd name="adj" fmla="val 8000"/>
            </a:avLst>
          </a:prstGeom>
          <a:solidFill>
            <a:srgbClr val="0F4C75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97000"/>
            <a:ext cx="177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User Query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540000" y="1714500"/>
            <a:ext cx="635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3175000" y="1397000"/>
            <a:ext cx="2032000" cy="698500"/>
          </a:xfrm>
          <a:prstGeom prst="roundRect">
            <a:avLst>
              <a:gd name="adj" fmla="val 8000"/>
            </a:avLst>
          </a:prstGeom>
          <a:solidFill>
            <a:srgbClr val="0F4C75"/>
          </a:solidFill>
          <a:ln/>
        </p:spPr>
      </p:sp>
      <p:sp>
        <p:nvSpPr>
          <p:cNvPr id="9" name="Text 7"/>
          <p:cNvSpPr/>
          <p:nvPr/>
        </p:nvSpPr>
        <p:spPr>
          <a:xfrm>
            <a:off x="3175000" y="1397000"/>
            <a:ext cx="203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Embedding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207000" y="1714500"/>
            <a:ext cx="635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5842000" y="1397000"/>
            <a:ext cx="2032000" cy="6985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842000" y="1397000"/>
            <a:ext cx="203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FAISS Search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874000" y="1714500"/>
            <a:ext cx="635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8509000" y="1397000"/>
            <a:ext cx="2032000" cy="698500"/>
          </a:xfrm>
          <a:prstGeom prst="roundRect">
            <a:avLst>
              <a:gd name="adj" fmla="val 8000"/>
            </a:avLst>
          </a:prstGeom>
          <a:solidFill>
            <a:srgbClr val="0F4C75"/>
          </a:solidFill>
          <a:ln/>
        </p:spPr>
      </p:sp>
      <p:sp>
        <p:nvSpPr>
          <p:cNvPr id="15" name="Text 13"/>
          <p:cNvSpPr/>
          <p:nvPr/>
        </p:nvSpPr>
        <p:spPr>
          <a:xfrm>
            <a:off x="8509000" y="1397000"/>
            <a:ext cx="203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Retrieve Chunks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541000" y="1714500"/>
            <a:ext cx="635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1176000" y="1397000"/>
            <a:ext cx="2032000" cy="698500"/>
          </a:xfrm>
          <a:prstGeom prst="roundRect">
            <a:avLst>
              <a:gd name="adj" fmla="val 8000"/>
            </a:avLst>
          </a:prstGeom>
          <a:solidFill>
            <a:srgbClr val="0F4C75"/>
          </a:solidFill>
          <a:ln/>
        </p:spPr>
      </p:sp>
      <p:sp>
        <p:nvSpPr>
          <p:cNvPr id="18" name="Text 16"/>
          <p:cNvSpPr/>
          <p:nvPr/>
        </p:nvSpPr>
        <p:spPr>
          <a:xfrm>
            <a:off x="11176000" y="1397000"/>
            <a:ext cx="203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AI Generate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3208000" y="1714500"/>
            <a:ext cx="635000" cy="0"/>
          </a:xfrm>
          <a:prstGeom prst="straightConnector1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3843000" y="1397000"/>
            <a:ext cx="1651000" cy="698500"/>
          </a:xfrm>
          <a:prstGeom prst="roundRect">
            <a:avLst>
              <a:gd name="adj" fmla="val 8000"/>
            </a:avLst>
          </a:prstGeom>
          <a:solidFill>
            <a:srgbClr val="1E5A8A"/>
          </a:solidFill>
          <a:ln/>
        </p:spPr>
      </p:sp>
      <p:sp>
        <p:nvSpPr>
          <p:cNvPr id="21" name="Text 19"/>
          <p:cNvSpPr/>
          <p:nvPr/>
        </p:nvSpPr>
        <p:spPr>
          <a:xfrm>
            <a:off x="13843000" y="1397000"/>
            <a:ext cx="165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Answer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62000" y="2476500"/>
            <a:ext cx="14732000" cy="5842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2200" y="266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7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RAG Works in This System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92200" y="3238500"/>
            <a:ext cx="14097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9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1:</a:t>
            </a:r>
            <a:r>
              <a:rPr lang="en-US" sz="1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User enters a question in natural language through the chat interface</a:t>
            </a:r>
            <a:endParaRPr lang="en-US" sz="1600" dirty="0">
              <a:latin typeface="Calibri" panose="020F0502020204030204" pitchFamily="34" charset="0"/>
            </a:endParaRPr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9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2:</a:t>
            </a:r>
            <a:r>
              <a:rPr lang="en-US" sz="1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question is converted into an </a:t>
            </a:r>
            <a:r>
              <a:rPr lang="en-US" sz="1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embedding vector</a:t>
            </a:r>
            <a:r>
              <a:rPr lang="en-US" sz="1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an embedding model</a:t>
            </a:r>
            <a:endParaRPr lang="en-US" sz="1600" dirty="0">
              <a:latin typeface="Calibri" panose="020F0502020204030204" pitchFamily="34" charset="0"/>
            </a:endParaRPr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9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3:</a:t>
            </a:r>
            <a:r>
              <a:rPr lang="en-US" sz="1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FAISS</a:t>
            </a:r>
            <a:r>
              <a:rPr lang="en-US" sz="1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performs similarity search across the vector database of document chunks</a:t>
            </a:r>
            <a:endParaRPr lang="en-US" sz="1600" dirty="0">
              <a:latin typeface="Calibri" panose="020F0502020204030204" pitchFamily="34" charset="0"/>
            </a:endParaRPr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9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4:</a:t>
            </a:r>
            <a:r>
              <a:rPr lang="en-US" sz="1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Top-k most relevant document chunks are retrieved as </a:t>
            </a:r>
            <a:r>
              <a:rPr lang="en-US" sz="19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</a:t>
            </a:r>
            <a:endParaRPr lang="en-US" sz="1600" dirty="0">
              <a:latin typeface="Calibri" panose="020F0502020204030204" pitchFamily="34" charset="0"/>
            </a:endParaRPr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9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5:</a:t>
            </a:r>
            <a:r>
              <a:rPr lang="en-US" sz="1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Retrieved context + original query are sent to </a:t>
            </a:r>
            <a:r>
              <a:rPr lang="en-US" sz="1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OpenAI / Gemini</a:t>
            </a:r>
            <a:r>
              <a:rPr lang="en-US" sz="1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API</a:t>
            </a:r>
            <a:endParaRPr lang="en-US" sz="1600" dirty="0">
              <a:latin typeface="Calibri" panose="020F0502020204030204" pitchFamily="34" charset="0"/>
            </a:endParaRPr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9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6:</a:t>
            </a:r>
            <a:r>
              <a:rPr lang="en-US" sz="1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 model generates a </a:t>
            </a:r>
            <a:r>
              <a:rPr lang="en-US" sz="19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context-aware, accurate answer</a:t>
            </a:r>
            <a:r>
              <a:rPr lang="en-US" sz="1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based on the retrieved documents</a:t>
            </a:r>
            <a:endParaRPr lang="en-US" sz="1600" dirty="0">
              <a:latin typeface="Calibri" panose="020F0502020204030204" pitchFamily="34" charset="0"/>
            </a:endParaRPr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9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7:</a:t>
            </a:r>
            <a:r>
              <a:rPr lang="en-US" sz="19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Answer is displayed to user with an option to provide feedback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75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Key Features</a:t>
            </a:r>
            <a:endParaRPr lang="en-US" sz="2800" dirty="0">
              <a:latin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1016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4699000" cy="1397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333500"/>
            <a:ext cx="63500" cy="1397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019175" y="1498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100013"/>
                </a:moveTo>
                <a:cubicBezTo>
                  <a:pt x="266700" y="167521"/>
                  <a:pt x="206970" y="222250"/>
                  <a:pt x="133350" y="222250"/>
                </a:cubicBezTo>
                <a:cubicBezTo>
                  <a:pt x="114806" y="222250"/>
                  <a:pt x="97165" y="218777"/>
                  <a:pt x="81121" y="212527"/>
                </a:cubicBezTo>
                <a:lnTo>
                  <a:pt x="24448" y="242530"/>
                </a:lnTo>
                <a:cubicBezTo>
                  <a:pt x="17988" y="245934"/>
                  <a:pt x="10071" y="244753"/>
                  <a:pt x="4862" y="239613"/>
                </a:cubicBezTo>
                <a:cubicBezTo>
                  <a:pt x="-347" y="234474"/>
                  <a:pt x="-1528" y="226487"/>
                  <a:pt x="1945" y="220028"/>
                </a:cubicBezTo>
                <a:lnTo>
                  <a:pt x="26670" y="173355"/>
                </a:lnTo>
                <a:cubicBezTo>
                  <a:pt x="9932" y="152936"/>
                  <a:pt x="0" y="127516"/>
                  <a:pt x="0" y="100013"/>
                </a:cubicBezTo>
                <a:cubicBezTo>
                  <a:pt x="0" y="32504"/>
                  <a:pt x="59730" y="-22225"/>
                  <a:pt x="133350" y="-22225"/>
                </a:cubicBezTo>
                <a:cubicBezTo>
                  <a:pt x="206970" y="-22225"/>
                  <a:pt x="266700" y="32504"/>
                  <a:pt x="266700" y="100013"/>
                </a:cubicBezTo>
                <a:close/>
                <a:moveTo>
                  <a:pt x="266700" y="355600"/>
                </a:moveTo>
                <a:cubicBezTo>
                  <a:pt x="201345" y="355600"/>
                  <a:pt x="146963" y="312470"/>
                  <a:pt x="135572" y="255587"/>
                </a:cubicBezTo>
                <a:cubicBezTo>
                  <a:pt x="218916" y="254546"/>
                  <a:pt x="291356" y="195233"/>
                  <a:pt x="299343" y="114806"/>
                </a:cubicBezTo>
                <a:cubicBezTo>
                  <a:pt x="357197" y="128141"/>
                  <a:pt x="400050" y="176133"/>
                  <a:pt x="400050" y="233363"/>
                </a:cubicBezTo>
                <a:cubicBezTo>
                  <a:pt x="400050" y="260866"/>
                  <a:pt x="390118" y="286286"/>
                  <a:pt x="373380" y="306705"/>
                </a:cubicBezTo>
                <a:lnTo>
                  <a:pt x="398105" y="353378"/>
                </a:lnTo>
                <a:cubicBezTo>
                  <a:pt x="401509" y="359837"/>
                  <a:pt x="400328" y="367754"/>
                  <a:pt x="395188" y="372963"/>
                </a:cubicBezTo>
                <a:cubicBezTo>
                  <a:pt x="390049" y="378172"/>
                  <a:pt x="382062" y="379353"/>
                  <a:pt x="375602" y="375880"/>
                </a:cubicBezTo>
                <a:lnTo>
                  <a:pt x="318929" y="345877"/>
                </a:lnTo>
                <a:cubicBezTo>
                  <a:pt x="302885" y="352127"/>
                  <a:pt x="285244" y="355600"/>
                  <a:pt x="266700" y="355600"/>
                </a:cubicBezTo>
                <a:close/>
              </a:path>
            </a:pathLst>
          </a:custGeom>
          <a:solidFill>
            <a:srgbClr val="0F4C75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1460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7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Chatbot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41400" y="19304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login required. Instant answers for all MPOnline queries.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778500" y="1333500"/>
            <a:ext cx="4699000" cy="1397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78500" y="1333500"/>
            <a:ext cx="63500" cy="1397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5675" y="1498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55575" y="172244"/>
                </a:moveTo>
                <a:cubicBezTo>
                  <a:pt x="201574" y="172244"/>
                  <a:pt x="238919" y="134899"/>
                  <a:pt x="238919" y="88900"/>
                </a:cubicBezTo>
                <a:cubicBezTo>
                  <a:pt x="238919" y="42901"/>
                  <a:pt x="201574" y="5556"/>
                  <a:pt x="155575" y="5556"/>
                </a:cubicBezTo>
                <a:cubicBezTo>
                  <a:pt x="109576" y="5556"/>
                  <a:pt x="72231" y="42901"/>
                  <a:pt x="72231" y="88900"/>
                </a:cubicBezTo>
                <a:cubicBezTo>
                  <a:pt x="72231" y="134899"/>
                  <a:pt x="109576" y="172244"/>
                  <a:pt x="155575" y="172244"/>
                </a:cubicBezTo>
                <a:close/>
                <a:moveTo>
                  <a:pt x="134947" y="211138"/>
                </a:moveTo>
                <a:cubicBezTo>
                  <a:pt x="66536" y="211138"/>
                  <a:pt x="11112" y="266561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206415" y="355600"/>
                </a:lnTo>
                <a:cubicBezTo>
                  <a:pt x="181273" y="326013"/>
                  <a:pt x="166688" y="287883"/>
                  <a:pt x="166688" y="247531"/>
                </a:cubicBezTo>
                <a:lnTo>
                  <a:pt x="166688" y="225931"/>
                </a:lnTo>
                <a:cubicBezTo>
                  <a:pt x="166688" y="220861"/>
                  <a:pt x="167382" y="215860"/>
                  <a:pt x="168702" y="211137"/>
                </a:cubicBezTo>
                <a:lnTo>
                  <a:pt x="134947" y="211137"/>
                </a:lnTo>
                <a:close/>
                <a:moveTo>
                  <a:pt x="309275" y="339279"/>
                </a:moveTo>
                <a:lnTo>
                  <a:pt x="300038" y="343654"/>
                </a:lnTo>
                <a:lnTo>
                  <a:pt x="300038" y="213013"/>
                </a:lnTo>
                <a:lnTo>
                  <a:pt x="366712" y="235238"/>
                </a:lnTo>
                <a:lnTo>
                  <a:pt x="366712" y="248851"/>
                </a:lnTo>
                <a:cubicBezTo>
                  <a:pt x="366712" y="287605"/>
                  <a:pt x="344349" y="322818"/>
                  <a:pt x="309275" y="339348"/>
                </a:cubicBezTo>
                <a:close/>
                <a:moveTo>
                  <a:pt x="293023" y="180231"/>
                </a:moveTo>
                <a:lnTo>
                  <a:pt x="215235" y="206137"/>
                </a:lnTo>
                <a:cubicBezTo>
                  <a:pt x="206137" y="209193"/>
                  <a:pt x="200025" y="217666"/>
                  <a:pt x="200025" y="227251"/>
                </a:cubicBezTo>
                <a:lnTo>
                  <a:pt x="200025" y="248851"/>
                </a:lnTo>
                <a:cubicBezTo>
                  <a:pt x="200025" y="300524"/>
                  <a:pt x="229890" y="347543"/>
                  <a:pt x="276562" y="369491"/>
                </a:cubicBezTo>
                <a:lnTo>
                  <a:pt x="289411" y="375533"/>
                </a:lnTo>
                <a:cubicBezTo>
                  <a:pt x="292745" y="377061"/>
                  <a:pt x="296356" y="377894"/>
                  <a:pt x="299968" y="377894"/>
                </a:cubicBezTo>
                <a:cubicBezTo>
                  <a:pt x="303580" y="377894"/>
                  <a:pt x="307261" y="377061"/>
                  <a:pt x="310525" y="375533"/>
                </a:cubicBezTo>
                <a:lnTo>
                  <a:pt x="323374" y="369491"/>
                </a:lnTo>
                <a:cubicBezTo>
                  <a:pt x="370185" y="347474"/>
                  <a:pt x="400050" y="300454"/>
                  <a:pt x="400050" y="248781"/>
                </a:cubicBezTo>
                <a:lnTo>
                  <a:pt x="400050" y="227181"/>
                </a:lnTo>
                <a:cubicBezTo>
                  <a:pt x="400050" y="217597"/>
                  <a:pt x="393938" y="209123"/>
                  <a:pt x="384840" y="206067"/>
                </a:cubicBezTo>
                <a:lnTo>
                  <a:pt x="307052" y="180161"/>
                </a:lnTo>
                <a:cubicBezTo>
                  <a:pt x="302468" y="178633"/>
                  <a:pt x="297537" y="178633"/>
                  <a:pt x="293023" y="180161"/>
                </a:cubicBezTo>
                <a:close/>
              </a:path>
            </a:pathLst>
          </a:custGeom>
          <a:solidFill>
            <a:srgbClr val="0F4C75"/>
          </a:solidFill>
          <a:ln/>
        </p:spPr>
      </p:sp>
      <p:sp>
        <p:nvSpPr>
          <p:cNvPr id="13" name="Text 11"/>
          <p:cNvSpPr/>
          <p:nvPr/>
        </p:nvSpPr>
        <p:spPr>
          <a:xfrm>
            <a:off x="6540500" y="1460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7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JWT Authentication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57900" y="19304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login system with token-based session management.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795000" y="1333500"/>
            <a:ext cx="4699000" cy="1397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95000" y="1333500"/>
            <a:ext cx="63500" cy="1397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52175" y="1498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44450"/>
                </a:moveTo>
                <a:cubicBezTo>
                  <a:pt x="273645" y="44450"/>
                  <a:pt x="333375" y="104180"/>
                  <a:pt x="333375" y="177800"/>
                </a:cubicBezTo>
                <a:cubicBezTo>
                  <a:pt x="333375" y="251420"/>
                  <a:pt x="273645" y="311150"/>
                  <a:pt x="200025" y="311150"/>
                </a:cubicBezTo>
                <a:cubicBezTo>
                  <a:pt x="154742" y="311150"/>
                  <a:pt x="114667" y="288578"/>
                  <a:pt x="90567" y="253990"/>
                </a:cubicBezTo>
                <a:cubicBezTo>
                  <a:pt x="83552" y="243919"/>
                  <a:pt x="69661" y="241489"/>
                  <a:pt x="59591" y="248503"/>
                </a:cubicBezTo>
                <a:cubicBezTo>
                  <a:pt x="49520" y="255518"/>
                  <a:pt x="47089" y="269409"/>
                  <a:pt x="54104" y="279479"/>
                </a:cubicBezTo>
                <a:cubicBezTo>
                  <a:pt x="86191" y="325457"/>
                  <a:pt x="139601" y="355600"/>
                  <a:pt x="200025" y="355600"/>
                </a:cubicBezTo>
                <a:cubicBezTo>
                  <a:pt x="298232" y="355600"/>
                  <a:pt x="377825" y="276007"/>
                  <a:pt x="377825" y="177800"/>
                </a:cubicBezTo>
                <a:cubicBezTo>
                  <a:pt x="377825" y="79593"/>
                  <a:pt x="298232" y="0"/>
                  <a:pt x="200025" y="0"/>
                </a:cubicBezTo>
                <a:cubicBezTo>
                  <a:pt x="140504" y="0"/>
                  <a:pt x="87858" y="29240"/>
                  <a:pt x="55563" y="74106"/>
                </a:cubicBezTo>
                <a:lnTo>
                  <a:pt x="55563" y="55563"/>
                </a:lnTo>
                <a:cubicBezTo>
                  <a:pt x="55563" y="43269"/>
                  <a:pt x="45631" y="33337"/>
                  <a:pt x="33337" y="33337"/>
                </a:cubicBezTo>
                <a:cubicBezTo>
                  <a:pt x="21044" y="33337"/>
                  <a:pt x="11112" y="43269"/>
                  <a:pt x="11112" y="55563"/>
                </a:cubicBezTo>
                <a:lnTo>
                  <a:pt x="11112" y="133350"/>
                </a:lnTo>
                <a:cubicBezTo>
                  <a:pt x="11112" y="145643"/>
                  <a:pt x="21044" y="155575"/>
                  <a:pt x="33337" y="155575"/>
                </a:cubicBezTo>
                <a:lnTo>
                  <a:pt x="50423" y="155575"/>
                </a:lnTo>
                <a:cubicBezTo>
                  <a:pt x="50770" y="155575"/>
                  <a:pt x="51117" y="155575"/>
                  <a:pt x="51465" y="155575"/>
                </a:cubicBezTo>
                <a:lnTo>
                  <a:pt x="111194" y="155575"/>
                </a:lnTo>
                <a:cubicBezTo>
                  <a:pt x="123488" y="155575"/>
                  <a:pt x="133419" y="145643"/>
                  <a:pt x="133419" y="133350"/>
                </a:cubicBezTo>
                <a:cubicBezTo>
                  <a:pt x="133419" y="121057"/>
                  <a:pt x="123488" y="111125"/>
                  <a:pt x="111194" y="111125"/>
                </a:cubicBezTo>
                <a:lnTo>
                  <a:pt x="84594" y="111125"/>
                </a:lnTo>
                <a:cubicBezTo>
                  <a:pt x="107583" y="71259"/>
                  <a:pt x="150713" y="44450"/>
                  <a:pt x="200025" y="44450"/>
                </a:cubicBezTo>
                <a:close/>
                <a:moveTo>
                  <a:pt x="216694" y="105569"/>
                </a:moveTo>
                <a:cubicBezTo>
                  <a:pt x="216694" y="96331"/>
                  <a:pt x="209262" y="88900"/>
                  <a:pt x="200025" y="88900"/>
                </a:cubicBezTo>
                <a:cubicBezTo>
                  <a:pt x="190788" y="88900"/>
                  <a:pt x="183356" y="96331"/>
                  <a:pt x="183356" y="105569"/>
                </a:cubicBezTo>
                <a:lnTo>
                  <a:pt x="183356" y="177800"/>
                </a:lnTo>
                <a:cubicBezTo>
                  <a:pt x="183356" y="182245"/>
                  <a:pt x="185093" y="186482"/>
                  <a:pt x="188218" y="189607"/>
                </a:cubicBezTo>
                <a:lnTo>
                  <a:pt x="238224" y="239613"/>
                </a:lnTo>
                <a:cubicBezTo>
                  <a:pt x="244753" y="246142"/>
                  <a:pt x="255310" y="246142"/>
                  <a:pt x="261769" y="239613"/>
                </a:cubicBezTo>
                <a:cubicBezTo>
                  <a:pt x="268228" y="233085"/>
                  <a:pt x="268297" y="222528"/>
                  <a:pt x="261769" y="216069"/>
                </a:cubicBezTo>
                <a:lnTo>
                  <a:pt x="216624" y="170924"/>
                </a:lnTo>
                <a:lnTo>
                  <a:pt x="216624" y="105569"/>
                </a:lnTo>
                <a:close/>
              </a:path>
            </a:pathLst>
          </a:custGeom>
          <a:solidFill>
            <a:srgbClr val="0F4C75"/>
          </a:solidFill>
          <a:ln/>
        </p:spPr>
      </p:sp>
      <p:sp>
        <p:nvSpPr>
          <p:cNvPr id="18" name="Text 16"/>
          <p:cNvSpPr/>
          <p:nvPr/>
        </p:nvSpPr>
        <p:spPr>
          <a:xfrm>
            <a:off x="11557000" y="1460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7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Chat History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074400" y="19304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 and retrieve past conversations with session management.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62000" y="2984500"/>
            <a:ext cx="4699000" cy="1397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000" y="2984500"/>
            <a:ext cx="63500" cy="1397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85850" y="31496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44450"/>
                </a:moveTo>
                <a:cubicBezTo>
                  <a:pt x="0" y="19933"/>
                  <a:pt x="19933" y="0"/>
                  <a:pt x="44450" y="0"/>
                </a:cubicBezTo>
                <a:lnTo>
                  <a:pt x="148282" y="0"/>
                </a:lnTo>
                <a:cubicBezTo>
                  <a:pt x="160089" y="0"/>
                  <a:pt x="171410" y="4653"/>
                  <a:pt x="179745" y="12988"/>
                </a:cubicBezTo>
                <a:lnTo>
                  <a:pt x="253712" y="87025"/>
                </a:lnTo>
                <a:cubicBezTo>
                  <a:pt x="262047" y="95359"/>
                  <a:pt x="266700" y="106680"/>
                  <a:pt x="266700" y="118487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44463" y="40630"/>
                </a:moveTo>
                <a:lnTo>
                  <a:pt x="144463" y="105569"/>
                </a:lnTo>
                <a:cubicBezTo>
                  <a:pt x="144463" y="114806"/>
                  <a:pt x="151894" y="122238"/>
                  <a:pt x="161131" y="122238"/>
                </a:cubicBezTo>
                <a:lnTo>
                  <a:pt x="226070" y="122238"/>
                </a:lnTo>
                <a:lnTo>
                  <a:pt x="144463" y="40630"/>
                </a:lnTo>
                <a:close/>
                <a:moveTo>
                  <a:pt x="145157" y="182662"/>
                </a:moveTo>
                <a:cubicBezTo>
                  <a:pt x="138628" y="176133"/>
                  <a:pt x="128072" y="176133"/>
                  <a:pt x="121612" y="182662"/>
                </a:cubicBezTo>
                <a:lnTo>
                  <a:pt x="77162" y="227112"/>
                </a:lnTo>
                <a:cubicBezTo>
                  <a:pt x="70634" y="233640"/>
                  <a:pt x="70634" y="244197"/>
                  <a:pt x="77162" y="250656"/>
                </a:cubicBezTo>
                <a:cubicBezTo>
                  <a:pt x="83691" y="257115"/>
                  <a:pt x="94248" y="257185"/>
                  <a:pt x="100707" y="250656"/>
                </a:cubicBezTo>
                <a:lnTo>
                  <a:pt x="116681" y="234682"/>
                </a:lnTo>
                <a:lnTo>
                  <a:pt x="116681" y="294481"/>
                </a:lnTo>
                <a:cubicBezTo>
                  <a:pt x="116681" y="303719"/>
                  <a:pt x="124113" y="311150"/>
                  <a:pt x="133350" y="311150"/>
                </a:cubicBezTo>
                <a:cubicBezTo>
                  <a:pt x="142587" y="311150"/>
                  <a:pt x="150019" y="303719"/>
                  <a:pt x="150019" y="294481"/>
                </a:cubicBezTo>
                <a:lnTo>
                  <a:pt x="150019" y="234682"/>
                </a:lnTo>
                <a:lnTo>
                  <a:pt x="165993" y="250656"/>
                </a:lnTo>
                <a:cubicBezTo>
                  <a:pt x="172522" y="257185"/>
                  <a:pt x="183078" y="257185"/>
                  <a:pt x="189538" y="250656"/>
                </a:cubicBezTo>
                <a:cubicBezTo>
                  <a:pt x="195997" y="244128"/>
                  <a:pt x="196066" y="233571"/>
                  <a:pt x="189538" y="227112"/>
                </a:cubicBezTo>
                <a:lnTo>
                  <a:pt x="145088" y="182662"/>
                </a:lnTo>
                <a:close/>
              </a:path>
            </a:pathLst>
          </a:custGeom>
          <a:solidFill>
            <a:srgbClr val="0F4C75"/>
          </a:solidFill>
          <a:ln/>
        </p:spPr>
      </p:sp>
      <p:sp>
        <p:nvSpPr>
          <p:cNvPr id="23" name="Text 21"/>
          <p:cNvSpPr/>
          <p:nvPr/>
        </p:nvSpPr>
        <p:spPr>
          <a:xfrm>
            <a:off x="1524000" y="3111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7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 Upload + OCR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41400" y="35814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 text from PDFs/images using Tesseract to expand knowledge base.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778500" y="2984500"/>
            <a:ext cx="4699000" cy="1397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78500" y="2984500"/>
            <a:ext cx="63500" cy="1397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013450" y="31496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0F4C75"/>
          </a:solidFill>
          <a:ln/>
        </p:spPr>
      </p:sp>
      <p:sp>
        <p:nvSpPr>
          <p:cNvPr id="28" name="Text 26"/>
          <p:cNvSpPr/>
          <p:nvPr/>
        </p:nvSpPr>
        <p:spPr>
          <a:xfrm>
            <a:off x="6540500" y="3111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7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Answer Generation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057900" y="35814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RAG-powered accurate and context-based responses using AI models.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795000" y="2984500"/>
            <a:ext cx="4699000" cy="1397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795000" y="2984500"/>
            <a:ext cx="63500" cy="1397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11074400" y="314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94456"/>
                </a:moveTo>
                <a:cubicBezTo>
                  <a:pt x="187037" y="94456"/>
                  <a:pt x="194469" y="101888"/>
                  <a:pt x="194469" y="111125"/>
                </a:cubicBezTo>
                <a:lnTo>
                  <a:pt x="194469" y="188913"/>
                </a:lnTo>
                <a:cubicBezTo>
                  <a:pt x="194469" y="198150"/>
                  <a:pt x="187037" y="205581"/>
                  <a:pt x="177800" y="205581"/>
                </a:cubicBezTo>
                <a:cubicBezTo>
                  <a:pt x="168563" y="205581"/>
                  <a:pt x="161131" y="198150"/>
                  <a:pt x="161131" y="188913"/>
                </a:cubicBezTo>
                <a:lnTo>
                  <a:pt x="161131" y="111125"/>
                </a:lnTo>
                <a:cubicBezTo>
                  <a:pt x="161131" y="101888"/>
                  <a:pt x="168563" y="94456"/>
                  <a:pt x="177800" y="94456"/>
                </a:cubicBezTo>
                <a:close/>
                <a:moveTo>
                  <a:pt x="159256" y="244475"/>
                </a:moveTo>
                <a:cubicBezTo>
                  <a:pt x="158834" y="237592"/>
                  <a:pt x="162267" y="231043"/>
                  <a:pt x="168168" y="227474"/>
                </a:cubicBezTo>
                <a:cubicBezTo>
                  <a:pt x="174068" y="223904"/>
                  <a:pt x="181462" y="223904"/>
                  <a:pt x="187363" y="227474"/>
                </a:cubicBezTo>
                <a:cubicBezTo>
                  <a:pt x="193264" y="231043"/>
                  <a:pt x="196696" y="237592"/>
                  <a:pt x="196275" y="244475"/>
                </a:cubicBezTo>
                <a:cubicBezTo>
                  <a:pt x="196696" y="251358"/>
                  <a:pt x="193264" y="257907"/>
                  <a:pt x="187363" y="261476"/>
                </a:cubicBezTo>
                <a:cubicBezTo>
                  <a:pt x="181462" y="265046"/>
                  <a:pt x="174068" y="265046"/>
                  <a:pt x="168168" y="261476"/>
                </a:cubicBezTo>
                <a:cubicBezTo>
                  <a:pt x="162267" y="257907"/>
                  <a:pt x="158834" y="251358"/>
                  <a:pt x="159256" y="244475"/>
                </a:cubicBezTo>
                <a:close/>
              </a:path>
            </a:pathLst>
          </a:custGeom>
          <a:solidFill>
            <a:srgbClr val="0F4C75"/>
          </a:solidFill>
          <a:ln/>
        </p:spPr>
      </p:sp>
      <p:sp>
        <p:nvSpPr>
          <p:cNvPr id="33" name="Text 31"/>
          <p:cNvSpPr/>
          <p:nvPr/>
        </p:nvSpPr>
        <p:spPr>
          <a:xfrm>
            <a:off x="11557000" y="3111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7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Grievance System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074400" y="35814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Register complaints and track status for unresolved issues.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62000" y="4635500"/>
            <a:ext cx="4699000" cy="1397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2000" y="4635500"/>
            <a:ext cx="63500" cy="1397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Shape 35"/>
          <p:cNvSpPr/>
          <p:nvPr/>
        </p:nvSpPr>
        <p:spPr>
          <a:xfrm>
            <a:off x="1063625" y="4800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172244"/>
                </a:moveTo>
                <a:cubicBezTo>
                  <a:pt x="109576" y="172244"/>
                  <a:pt x="72231" y="134899"/>
                  <a:pt x="72231" y="88900"/>
                </a:cubicBezTo>
                <a:cubicBezTo>
                  <a:pt x="72231" y="42901"/>
                  <a:pt x="109576" y="5556"/>
                  <a:pt x="155575" y="5556"/>
                </a:cubicBezTo>
                <a:cubicBezTo>
                  <a:pt x="201574" y="5556"/>
                  <a:pt x="238919" y="42901"/>
                  <a:pt x="238919" y="88900"/>
                </a:cubicBezTo>
                <a:cubicBezTo>
                  <a:pt x="238919" y="134899"/>
                  <a:pt x="201574" y="172244"/>
                  <a:pt x="155575" y="172244"/>
                </a:cubicBezTo>
                <a:close/>
                <a:moveTo>
                  <a:pt x="134392" y="211138"/>
                </a:moveTo>
                <a:lnTo>
                  <a:pt x="176758" y="211138"/>
                </a:lnTo>
                <a:cubicBezTo>
                  <a:pt x="183495" y="211138"/>
                  <a:pt x="188913" y="216555"/>
                  <a:pt x="188913" y="223292"/>
                </a:cubicBezTo>
                <a:cubicBezTo>
                  <a:pt x="188913" y="226209"/>
                  <a:pt x="187871" y="228987"/>
                  <a:pt x="185995" y="231209"/>
                </a:cubicBezTo>
                <a:lnTo>
                  <a:pt x="166965" y="253434"/>
                </a:lnTo>
                <a:lnTo>
                  <a:pt x="188496" y="333375"/>
                </a:lnTo>
                <a:lnTo>
                  <a:pt x="188913" y="333375"/>
                </a:lnTo>
                <a:lnTo>
                  <a:pt x="212943" y="237182"/>
                </a:lnTo>
                <a:cubicBezTo>
                  <a:pt x="214471" y="231140"/>
                  <a:pt x="220653" y="227459"/>
                  <a:pt x="226487" y="229681"/>
                </a:cubicBezTo>
                <a:cubicBezTo>
                  <a:pt x="269478" y="246072"/>
                  <a:pt x="300038" y="287744"/>
                  <a:pt x="300038" y="336500"/>
                </a:cubicBezTo>
                <a:cubicBezTo>
                  <a:pt x="300038" y="346988"/>
                  <a:pt x="291495" y="355531"/>
                  <a:pt x="281007" y="355531"/>
                </a:cubicBezTo>
                <a:lnTo>
                  <a:pt x="30143" y="355600"/>
                </a:lnTo>
                <a:cubicBezTo>
                  <a:pt x="19655" y="355600"/>
                  <a:pt x="11112" y="347057"/>
                  <a:pt x="11112" y="336570"/>
                </a:cubicBezTo>
                <a:cubicBezTo>
                  <a:pt x="11112" y="287814"/>
                  <a:pt x="41672" y="246142"/>
                  <a:pt x="84663" y="229751"/>
                </a:cubicBezTo>
                <a:cubicBezTo>
                  <a:pt x="90497" y="227528"/>
                  <a:pt x="96679" y="231209"/>
                  <a:pt x="98207" y="237252"/>
                </a:cubicBezTo>
                <a:lnTo>
                  <a:pt x="122238" y="333444"/>
                </a:lnTo>
                <a:lnTo>
                  <a:pt x="122654" y="333444"/>
                </a:lnTo>
                <a:lnTo>
                  <a:pt x="144185" y="253504"/>
                </a:lnTo>
                <a:lnTo>
                  <a:pt x="125155" y="231279"/>
                </a:lnTo>
                <a:cubicBezTo>
                  <a:pt x="123279" y="229056"/>
                  <a:pt x="122238" y="226278"/>
                  <a:pt x="122238" y="223361"/>
                </a:cubicBezTo>
                <a:cubicBezTo>
                  <a:pt x="122238" y="216624"/>
                  <a:pt x="127655" y="211207"/>
                  <a:pt x="134392" y="211207"/>
                </a:cubicBezTo>
                <a:close/>
              </a:path>
            </a:pathLst>
          </a:custGeom>
          <a:solidFill>
            <a:srgbClr val="0F4C75"/>
          </a:solidFill>
          <a:ln/>
        </p:spPr>
      </p:sp>
      <p:sp>
        <p:nvSpPr>
          <p:cNvPr id="38" name="Text 36"/>
          <p:cNvSpPr/>
          <p:nvPr/>
        </p:nvSpPr>
        <p:spPr>
          <a:xfrm>
            <a:off x="1524000" y="4762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7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Expert Escalation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41400" y="52324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Route complex queries to human experts for resolution.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778500" y="4635500"/>
            <a:ext cx="4699000" cy="1397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78500" y="4635500"/>
            <a:ext cx="63500" cy="1397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Shape 40"/>
          <p:cNvSpPr/>
          <p:nvPr/>
        </p:nvSpPr>
        <p:spPr>
          <a:xfrm>
            <a:off x="6035675" y="4800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14957" y="-13127"/>
                </a:moveTo>
                <a:cubicBezTo>
                  <a:pt x="212110" y="-18683"/>
                  <a:pt x="206345" y="-22225"/>
                  <a:pt x="200094" y="-22225"/>
                </a:cubicBezTo>
                <a:cubicBezTo>
                  <a:pt x="193844" y="-22225"/>
                  <a:pt x="188079" y="-18683"/>
                  <a:pt x="185231" y="-13127"/>
                </a:cubicBezTo>
                <a:lnTo>
                  <a:pt x="134114" y="87025"/>
                </a:lnTo>
                <a:lnTo>
                  <a:pt x="23058" y="104666"/>
                </a:lnTo>
                <a:cubicBezTo>
                  <a:pt x="16877" y="105638"/>
                  <a:pt x="11738" y="110014"/>
                  <a:pt x="9793" y="115987"/>
                </a:cubicBezTo>
                <a:cubicBezTo>
                  <a:pt x="7848" y="121960"/>
                  <a:pt x="9446" y="128488"/>
                  <a:pt x="13821" y="132933"/>
                </a:cubicBezTo>
                <a:lnTo>
                  <a:pt x="93276" y="212457"/>
                </a:lnTo>
                <a:lnTo>
                  <a:pt x="75773" y="323513"/>
                </a:lnTo>
                <a:cubicBezTo>
                  <a:pt x="74801" y="329694"/>
                  <a:pt x="77371" y="335945"/>
                  <a:pt x="82441" y="339626"/>
                </a:cubicBezTo>
                <a:cubicBezTo>
                  <a:pt x="87511" y="343307"/>
                  <a:pt x="94178" y="343862"/>
                  <a:pt x="99804" y="341015"/>
                </a:cubicBezTo>
                <a:lnTo>
                  <a:pt x="200094" y="290036"/>
                </a:lnTo>
                <a:lnTo>
                  <a:pt x="300315" y="341015"/>
                </a:lnTo>
                <a:cubicBezTo>
                  <a:pt x="305872" y="343862"/>
                  <a:pt x="312609" y="343307"/>
                  <a:pt x="317679" y="339626"/>
                </a:cubicBezTo>
                <a:cubicBezTo>
                  <a:pt x="322749" y="335945"/>
                  <a:pt x="325318" y="329763"/>
                  <a:pt x="324346" y="323513"/>
                </a:cubicBezTo>
                <a:lnTo>
                  <a:pt x="306774" y="212457"/>
                </a:lnTo>
                <a:lnTo>
                  <a:pt x="386229" y="132933"/>
                </a:lnTo>
                <a:cubicBezTo>
                  <a:pt x="390674" y="128488"/>
                  <a:pt x="392202" y="121960"/>
                  <a:pt x="390257" y="115987"/>
                </a:cubicBezTo>
                <a:cubicBezTo>
                  <a:pt x="388312" y="110014"/>
                  <a:pt x="383242" y="105638"/>
                  <a:pt x="376992" y="104666"/>
                </a:cubicBezTo>
                <a:lnTo>
                  <a:pt x="266005" y="87025"/>
                </a:lnTo>
                <a:lnTo>
                  <a:pt x="214957" y="-13127"/>
                </a:lnTo>
                <a:close/>
              </a:path>
            </a:pathLst>
          </a:custGeom>
          <a:solidFill>
            <a:srgbClr val="0F4C75"/>
          </a:solidFill>
          <a:ln/>
        </p:spPr>
      </p:sp>
      <p:sp>
        <p:nvSpPr>
          <p:cNvPr id="43" name="Text 41"/>
          <p:cNvSpPr/>
          <p:nvPr/>
        </p:nvSpPr>
        <p:spPr>
          <a:xfrm>
            <a:off x="6540500" y="4762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7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Feedback System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057900" y="52324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Rate answers and provide comments to improve chatbot quality.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0795000" y="4635500"/>
            <a:ext cx="4699000" cy="1397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795000" y="4635500"/>
            <a:ext cx="63500" cy="1397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Shape 45"/>
          <p:cNvSpPr/>
          <p:nvPr/>
        </p:nvSpPr>
        <p:spPr>
          <a:xfrm>
            <a:off x="11052175" y="4800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55878" y="166688"/>
                </a:moveTo>
                <a:lnTo>
                  <a:pt x="233640" y="166688"/>
                </a:lnTo>
                <a:cubicBezTo>
                  <a:pt x="221347" y="166688"/>
                  <a:pt x="211415" y="156756"/>
                  <a:pt x="211415" y="144463"/>
                </a:cubicBezTo>
                <a:lnTo>
                  <a:pt x="211415" y="22225"/>
                </a:lnTo>
                <a:cubicBezTo>
                  <a:pt x="211415" y="9932"/>
                  <a:pt x="221417" y="-139"/>
                  <a:pt x="233571" y="1459"/>
                </a:cubicBezTo>
                <a:cubicBezTo>
                  <a:pt x="307886" y="11321"/>
                  <a:pt x="366782" y="70217"/>
                  <a:pt x="376644" y="144532"/>
                </a:cubicBezTo>
                <a:cubicBezTo>
                  <a:pt x="378242" y="156686"/>
                  <a:pt x="368171" y="166688"/>
                  <a:pt x="355878" y="166688"/>
                </a:cubicBezTo>
                <a:close/>
                <a:moveTo>
                  <a:pt x="154603" y="25837"/>
                </a:moveTo>
                <a:cubicBezTo>
                  <a:pt x="167174" y="23197"/>
                  <a:pt x="178078" y="33476"/>
                  <a:pt x="178078" y="46325"/>
                </a:cubicBezTo>
                <a:lnTo>
                  <a:pt x="178078" y="183356"/>
                </a:lnTo>
                <a:cubicBezTo>
                  <a:pt x="178078" y="187246"/>
                  <a:pt x="179467" y="190996"/>
                  <a:pt x="181898" y="193983"/>
                </a:cubicBezTo>
                <a:lnTo>
                  <a:pt x="273645" y="304691"/>
                </a:lnTo>
                <a:cubicBezTo>
                  <a:pt x="281771" y="314484"/>
                  <a:pt x="280035" y="329277"/>
                  <a:pt x="268853" y="335320"/>
                </a:cubicBezTo>
                <a:cubicBezTo>
                  <a:pt x="245170" y="348238"/>
                  <a:pt x="218013" y="355600"/>
                  <a:pt x="189190" y="355600"/>
                </a:cubicBezTo>
                <a:cubicBezTo>
                  <a:pt x="97165" y="355600"/>
                  <a:pt x="22503" y="280938"/>
                  <a:pt x="22503" y="188913"/>
                </a:cubicBezTo>
                <a:cubicBezTo>
                  <a:pt x="22503" y="108694"/>
                  <a:pt x="79107" y="41741"/>
                  <a:pt x="154603" y="25837"/>
                </a:cubicBezTo>
                <a:close/>
                <a:moveTo>
                  <a:pt x="331847" y="200025"/>
                </a:moveTo>
                <a:lnTo>
                  <a:pt x="376297" y="200025"/>
                </a:lnTo>
                <a:cubicBezTo>
                  <a:pt x="389146" y="200025"/>
                  <a:pt x="399425" y="210929"/>
                  <a:pt x="396786" y="223500"/>
                </a:cubicBezTo>
                <a:cubicBezTo>
                  <a:pt x="389701" y="257115"/>
                  <a:pt x="372477" y="286980"/>
                  <a:pt x="348446" y="309761"/>
                </a:cubicBezTo>
                <a:cubicBezTo>
                  <a:pt x="339904" y="317887"/>
                  <a:pt x="326499" y="316151"/>
                  <a:pt x="318998" y="307052"/>
                </a:cubicBezTo>
                <a:lnTo>
                  <a:pt x="260380" y="236418"/>
                </a:lnTo>
                <a:cubicBezTo>
                  <a:pt x="248364" y="221903"/>
                  <a:pt x="258713" y="200025"/>
                  <a:pt x="277465" y="200025"/>
                </a:cubicBezTo>
                <a:lnTo>
                  <a:pt x="331778" y="200025"/>
                </a:lnTo>
                <a:close/>
              </a:path>
            </a:pathLst>
          </a:custGeom>
          <a:solidFill>
            <a:srgbClr val="0F4C75"/>
          </a:solidFill>
          <a:ln/>
        </p:spPr>
      </p:sp>
      <p:sp>
        <p:nvSpPr>
          <p:cNvPr id="48" name="Text 46"/>
          <p:cNvSpPr/>
          <p:nvPr/>
        </p:nvSpPr>
        <p:spPr>
          <a:xfrm>
            <a:off x="11557000" y="4762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7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Dashboard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1074400" y="52324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Analytics, user management, and system monitoring tools.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62000" y="6350000"/>
            <a:ext cx="14732000" cy="381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Text 49"/>
          <p:cNvSpPr/>
          <p:nvPr/>
        </p:nvSpPr>
        <p:spPr>
          <a:xfrm>
            <a:off x="762000" y="6604000"/>
            <a:ext cx="147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Innovation:</a:t>
            </a:r>
            <a:r>
              <a:rPr lang="en-US" sz="1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chatbot combines </a:t>
            </a:r>
            <a:r>
              <a:rPr lang="en-US" sz="18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public accessibility</a:t>
            </a:r>
            <a:r>
              <a:rPr lang="en-US" sz="1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</a:t>
            </a:r>
            <a:r>
              <a:rPr lang="en-US" sz="18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authenticated features</a:t>
            </a:r>
            <a:r>
              <a:rPr lang="en-US" sz="1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ensuring every citizen gets help while registered users unlock advanced capabilities like history, grievances, and feedback.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75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System Modules</a:t>
            </a:r>
            <a:endParaRPr lang="en-US" sz="2800" dirty="0">
              <a:latin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1016000" cy="38100"/>
          </a:xfrm>
          <a:prstGeom prst="rect">
            <a:avLst/>
          </a:prstGeom>
          <a:solidFill>
            <a:srgbClr val="F59E0B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516062"/>
              </p:ext>
            </p:extLst>
          </p:nvPr>
        </p:nvGraphicFramePr>
        <p:xfrm>
          <a:off x="762000" y="1397000"/>
          <a:ext cx="14732000" cy="6858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Module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Components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Responsibilities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59E0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Authentication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JWT login, registration, session management, role-based access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Secure user identity verification and protected route access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59E0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Chatbot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Query processing, embedding generation, FAISS retrieval, AI generation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Natural language understanding and context-aware answer synthesis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59E0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Document Processing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Upload handler, Tesseract OCR, text chunking, embedding, FAISS indexing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Convert uploaded documents into searchable vector knowledge base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59E0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Grievance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Complaint registration, status tracking, admin resolution workflow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Ensure no user query goes unresolved through escalation pipeline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59E0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Feedback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 ratings, comments, sentiment collection, quality metrics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 user feedback to continuously improve answer quality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59E0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Analytics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Query statistics, user activity charts, performance dashboards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Monitor chatbot performance and user engagement for admins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75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Database Overview</a:t>
            </a:r>
            <a:endParaRPr lang="en-US" sz="2800" dirty="0">
              <a:latin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1016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7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7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PostgreSQL Relational Schema</a:t>
            </a:r>
            <a:endParaRPr lang="en-US" sz="1600" dirty="0">
              <a:latin typeface="Calibri" panose="020F0502020204030204" pitchFamily="34" charset="0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075513"/>
              </p:ext>
            </p:extLst>
          </p:nvPr>
        </p:nvGraphicFramePr>
        <p:xfrm>
          <a:off x="762000" y="1778000"/>
          <a:ext cx="14732000" cy="4318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Table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Fields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id, username, email, password_hash, role, created_at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Store registered user accounts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chat_sessions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session_id, user_id, title, created_at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Manage conversation sessions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chat_messages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message_id, session_id, role, content, timestamp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Store individual chat messages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documents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doc_id, filename, extracted_text, upload_date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Track uploaded document data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grievances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grievance_id, user_id, subject, description, status, created_at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Record user complaints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feedback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feedback_id, message_id, rating, comment, timestamp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E293B"/>
                          </a:solidFill>
                          <a:latin typeface="Calibri" panose="020F0502020204030204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 answer ratings</a:t>
                      </a:r>
                      <a:endParaRPr lang="en-US" sz="1800" dirty="0">
                        <a:latin typeface="Calibri" panose="020F0502020204030204" pitchFamily="34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635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7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FAISS Vector Store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62000" y="6858000"/>
            <a:ext cx="14732000" cy="1270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2000" y="6858000"/>
            <a:ext cx="76200" cy="1270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1092200" y="6985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FAISS (Facebook AI Similarity Search)</a:t>
            </a:r>
            <a:r>
              <a:rPr lang="en-US" sz="1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stores document chunks as high-dimensional embedding vectors.</a:t>
            </a:r>
            <a:endParaRPr lang="en-US" sz="1600" dirty="0"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</a:t>
            </a:r>
            <a:r>
              <a:rPr lang="en-US" sz="18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 approximate nearest neighbor search</a:t>
            </a:r>
            <a:r>
              <a:rPr lang="en-US" sz="1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retrieve the most relevant context for any user query.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75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Testing</a:t>
            </a:r>
            <a:endParaRPr lang="en-US" sz="2800" dirty="0">
              <a:latin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1016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7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7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 Approach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2000" y="1841500"/>
            <a:ext cx="7048500" cy="19685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841500"/>
            <a:ext cx="63500" cy="19685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8" name="Shape 6"/>
          <p:cNvSpPr/>
          <p:nvPr/>
        </p:nvSpPr>
        <p:spPr>
          <a:xfrm>
            <a:off x="1063625" y="2006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27781"/>
                </a:moveTo>
                <a:cubicBezTo>
                  <a:pt x="88900" y="12432"/>
                  <a:pt x="101332" y="0"/>
                  <a:pt x="116681" y="0"/>
                </a:cubicBezTo>
                <a:cubicBezTo>
                  <a:pt x="132030" y="0"/>
                  <a:pt x="144463" y="12432"/>
                  <a:pt x="144463" y="27781"/>
                </a:cubicBezTo>
                <a:lnTo>
                  <a:pt x="144463" y="130711"/>
                </a:lnTo>
                <a:cubicBezTo>
                  <a:pt x="150366" y="125432"/>
                  <a:pt x="158145" y="122238"/>
                  <a:pt x="166688" y="122238"/>
                </a:cubicBezTo>
                <a:cubicBezTo>
                  <a:pt x="180995" y="122238"/>
                  <a:pt x="193219" y="131266"/>
                  <a:pt x="197941" y="143907"/>
                </a:cubicBezTo>
                <a:cubicBezTo>
                  <a:pt x="204053" y="137448"/>
                  <a:pt x="212665" y="133350"/>
                  <a:pt x="222250" y="133350"/>
                </a:cubicBezTo>
                <a:cubicBezTo>
                  <a:pt x="239822" y="133350"/>
                  <a:pt x="254198" y="146893"/>
                  <a:pt x="255518" y="164118"/>
                </a:cubicBezTo>
                <a:cubicBezTo>
                  <a:pt x="261422" y="158770"/>
                  <a:pt x="269270" y="155575"/>
                  <a:pt x="277813" y="155575"/>
                </a:cubicBezTo>
                <a:cubicBezTo>
                  <a:pt x="296218" y="155575"/>
                  <a:pt x="311150" y="170507"/>
                  <a:pt x="311150" y="188913"/>
                </a:cubicBezTo>
                <a:lnTo>
                  <a:pt x="311150" y="266700"/>
                </a:lnTo>
                <a:cubicBezTo>
                  <a:pt x="311150" y="315803"/>
                  <a:pt x="271353" y="355600"/>
                  <a:pt x="222250" y="355600"/>
                </a:cubicBezTo>
                <a:lnTo>
                  <a:pt x="163006" y="355600"/>
                </a:lnTo>
                <a:cubicBezTo>
                  <a:pt x="159534" y="355600"/>
                  <a:pt x="156131" y="355392"/>
                  <a:pt x="152797" y="354905"/>
                </a:cubicBezTo>
                <a:cubicBezTo>
                  <a:pt x="114389" y="351016"/>
                  <a:pt x="79038" y="331291"/>
                  <a:pt x="55563" y="300038"/>
                </a:cubicBezTo>
                <a:lnTo>
                  <a:pt x="5556" y="233363"/>
                </a:lnTo>
                <a:cubicBezTo>
                  <a:pt x="-3681" y="221069"/>
                  <a:pt x="-1181" y="203706"/>
                  <a:pt x="11112" y="194469"/>
                </a:cubicBezTo>
                <a:cubicBezTo>
                  <a:pt x="23406" y="185231"/>
                  <a:pt x="40769" y="187732"/>
                  <a:pt x="50006" y="200025"/>
                </a:cubicBezTo>
                <a:lnTo>
                  <a:pt x="88900" y="251906"/>
                </a:lnTo>
                <a:lnTo>
                  <a:pt x="88900" y="27781"/>
                </a:lnTo>
                <a:close/>
                <a:moveTo>
                  <a:pt x="166688" y="211138"/>
                </a:moveTo>
                <a:cubicBezTo>
                  <a:pt x="166688" y="205026"/>
                  <a:pt x="161687" y="200025"/>
                  <a:pt x="155575" y="200025"/>
                </a:cubicBezTo>
                <a:cubicBezTo>
                  <a:pt x="149463" y="200025"/>
                  <a:pt x="144463" y="205026"/>
                  <a:pt x="144463" y="211138"/>
                </a:cubicBezTo>
                <a:lnTo>
                  <a:pt x="144463" y="277813"/>
                </a:lnTo>
                <a:cubicBezTo>
                  <a:pt x="144463" y="283924"/>
                  <a:pt x="149463" y="288925"/>
                  <a:pt x="155575" y="288925"/>
                </a:cubicBezTo>
                <a:cubicBezTo>
                  <a:pt x="161687" y="288925"/>
                  <a:pt x="166688" y="283924"/>
                  <a:pt x="166688" y="277813"/>
                </a:cubicBezTo>
                <a:lnTo>
                  <a:pt x="166688" y="211138"/>
                </a:lnTo>
                <a:close/>
                <a:moveTo>
                  <a:pt x="200025" y="200025"/>
                </a:moveTo>
                <a:cubicBezTo>
                  <a:pt x="193913" y="200025"/>
                  <a:pt x="188913" y="205026"/>
                  <a:pt x="188913" y="211138"/>
                </a:cubicBezTo>
                <a:lnTo>
                  <a:pt x="188913" y="277813"/>
                </a:lnTo>
                <a:cubicBezTo>
                  <a:pt x="188913" y="283924"/>
                  <a:pt x="193913" y="288925"/>
                  <a:pt x="200025" y="288925"/>
                </a:cubicBezTo>
                <a:cubicBezTo>
                  <a:pt x="206137" y="288925"/>
                  <a:pt x="211138" y="283924"/>
                  <a:pt x="211138" y="277813"/>
                </a:cubicBezTo>
                <a:lnTo>
                  <a:pt x="211138" y="211138"/>
                </a:lnTo>
                <a:cubicBezTo>
                  <a:pt x="211138" y="205026"/>
                  <a:pt x="206137" y="200025"/>
                  <a:pt x="200025" y="200025"/>
                </a:cubicBezTo>
                <a:close/>
                <a:moveTo>
                  <a:pt x="255587" y="211138"/>
                </a:moveTo>
                <a:cubicBezTo>
                  <a:pt x="255587" y="205026"/>
                  <a:pt x="250587" y="200025"/>
                  <a:pt x="244475" y="200025"/>
                </a:cubicBezTo>
                <a:cubicBezTo>
                  <a:pt x="238363" y="200025"/>
                  <a:pt x="233363" y="205026"/>
                  <a:pt x="233363" y="211138"/>
                </a:cubicBezTo>
                <a:lnTo>
                  <a:pt x="233363" y="277813"/>
                </a:lnTo>
                <a:cubicBezTo>
                  <a:pt x="233363" y="283924"/>
                  <a:pt x="238363" y="288925"/>
                  <a:pt x="244475" y="288925"/>
                </a:cubicBezTo>
                <a:cubicBezTo>
                  <a:pt x="250587" y="288925"/>
                  <a:pt x="255587" y="283924"/>
                  <a:pt x="255587" y="277813"/>
                </a:cubicBezTo>
                <a:lnTo>
                  <a:pt x="255587" y="211138"/>
                </a:lnTo>
                <a:close/>
              </a:path>
            </a:pathLst>
          </a:custGeom>
          <a:solidFill>
            <a:srgbClr val="0F4C75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1968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7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Testing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41400" y="2476500"/>
            <a:ext cx="6477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functionality, chat flow, authentication forms, grievance submission workflow, admin dashboard navigation, and document upload verification.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91500" y="1841500"/>
            <a:ext cx="7302500" cy="1778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91500" y="1841500"/>
            <a:ext cx="63500" cy="1778000"/>
          </a:xfrm>
          <a:prstGeom prst="rect">
            <a:avLst/>
          </a:prstGeom>
          <a:solidFill>
            <a:srgbClr val="0F4C75"/>
          </a:solidFill>
          <a:ln/>
        </p:spPr>
      </p:sp>
      <p:sp>
        <p:nvSpPr>
          <p:cNvPr id="13" name="Shape 11"/>
          <p:cNvSpPr/>
          <p:nvPr/>
        </p:nvSpPr>
        <p:spPr>
          <a:xfrm>
            <a:off x="8448675" y="2006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0F4C75"/>
          </a:solidFill>
          <a:ln/>
        </p:spPr>
      </p:sp>
      <p:sp>
        <p:nvSpPr>
          <p:cNvPr id="14" name="Text 12"/>
          <p:cNvSpPr/>
          <p:nvPr/>
        </p:nvSpPr>
        <p:spPr>
          <a:xfrm>
            <a:off x="8953500" y="1968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4C7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API Testing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70900" y="2476500"/>
            <a:ext cx="673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script testing all backend API endpoints including auth, chatbot, document upload, grievance, and admin APIs with assertions.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2000" y="393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F4C7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Results Summary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62000" y="4508500"/>
            <a:ext cx="14732000" cy="3556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70000" y="4826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0F4C75"/>
          </a:solidFill>
          <a:ln/>
        </p:spPr>
      </p:sp>
      <p:sp>
        <p:nvSpPr>
          <p:cNvPr id="19" name="Text 17"/>
          <p:cNvSpPr/>
          <p:nvPr/>
        </p:nvSpPr>
        <p:spPr>
          <a:xfrm>
            <a:off x="1270000" y="482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26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70000" y="5588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Test Cases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318000" y="4826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4318000" y="482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26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318000" y="5588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Passed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366000" y="4826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366000" y="4826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100%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366000" y="5588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EF3C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 Rate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270000" y="6477000"/>
            <a:ext cx="1371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 Areas Covered:</a:t>
            </a:r>
            <a:endParaRPr lang="en-US" sz="1600" dirty="0">
              <a:latin typeface="Calibri" panose="020F0502020204030204" pitchFamily="34" charset="0"/>
            </a:endParaRPr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Registration / Login | Chatbot Query-Answer | Document Upload &amp; OCR | Grievance Workflow | Feedback Submission | Admin API Endpoints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75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2800" dirty="0">
              <a:latin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1016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Fully Functional AI Chatbot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— Successfully developed and deployed a chatbot for MPOnline service queries with real-time response capability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Accurate RAG-Based Answers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— The system provides </a:t>
            </a: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context-aware, accurate responses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by combining FAISS vector search with OpenAI/Gemini generation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Dual Access Mode Working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— Public users get instant responses without login; authenticated users access full features seamlessly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OCR Knowledge Expansion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— Document upload with </a:t>
            </a: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Tesseract OCR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successfully converts PDFs/images into searchable vector data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Grievance Pipeline Active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— Grievance registration and expert escalation ensure no query remains unresolved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Admin Dashboard Operational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— Real-time analytics on query volume, user activity, feedback scores, and system health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100% Test Success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— All </a:t>
            </a: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26/26 test cases passed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confirming system stability, reliability, and readiness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381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4C75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Future Scope</a:t>
            </a:r>
            <a:endParaRPr lang="en-US" sz="2800" dirty="0">
              <a:latin typeface="Calibri" panose="020F0502020204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990600"/>
            <a:ext cx="1016000" cy="381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Multilingual Support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— Add </a:t>
            </a: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Hindi and regional languages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to make the chatbot accessible to all citizens of Madhya Pradesh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Voice Interface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— Integrate </a:t>
            </a: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speech-to-text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text-to-speech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for voice-based queries, helping users with limited typing ability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Advanced Analytics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— Add </a:t>
            </a: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sentiment analysis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, trending query detection, and predictive insights for proactive service improvement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Mobile Application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— Develop native </a:t>
            </a: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Android/iOS apps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for on-the-go access, especially in rural kiosk environments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Live MPOnline Integration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— Direct API integration with the </a:t>
            </a: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MPOnline portal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for real-time service status and transactional queries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Domain-Specific Fine-Tuning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— Train custom AI models on MPOnline data for </a:t>
            </a: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higher accuracy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and reduced dependency on external APIs</a:t>
            </a:r>
            <a:endParaRPr lang="en-US" sz="2000" dirty="0">
              <a:latin typeface="Calibri" panose="020F0502020204030204" pitchFamily="34" charset="0"/>
            </a:endParaRPr>
          </a:p>
          <a:p>
            <a:pPr marL="317500" indent="-3175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b="1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Real-Time Notifications</a:t>
            </a:r>
            <a:r>
              <a:rPr lang="en-US" sz="2000" dirty="0">
                <a:solidFill>
                  <a:srgbClr val="1E293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 — Push alerts for grievance status updates, new services, and important announcements</a:t>
            </a:r>
            <a:endParaRPr lang="en-US" sz="2000" dirty="0">
              <a:latin typeface="Calibri" panose="020F05020202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mnouvznmzqq6/mnt/agents/output/mponline_chatbot/images/1_Blue_minimalist_modern_tech_background.png"/>
          <p:cNvPicPr>
            <a:picLocks noChangeAspect="1"/>
          </p:cNvPicPr>
          <p:nvPr/>
        </p:nvPicPr>
        <p:blipFill>
          <a:blip r:embed="rId3"/>
          <a:srcRect l="18" r="1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A1929">
                  <a:alpha val="90000"/>
                </a:srgbClr>
              </a:gs>
              <a:gs pos="50000">
                <a:srgbClr val="0A1929">
                  <a:alpha val="80000"/>
                </a:srgbClr>
              </a:gs>
              <a:gs pos="100000">
                <a:srgbClr val="0A1929">
                  <a:alpha val="63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1595847"/>
            <a:ext cx="2540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1849847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858000" y="2802347"/>
            <a:ext cx="2540000" cy="50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2032000" y="3119847"/>
            <a:ext cx="1219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00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AI-Powered FAQ Chatbot</a:t>
            </a:r>
            <a:r>
              <a:rPr lang="en-US" sz="2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successfully addresses the need for intelligent, automated query resolution for MPOnline services.</a:t>
            </a:r>
            <a:endParaRPr lang="en-US" sz="1600" dirty="0">
              <a:latin typeface="Calibri" panose="020F0502020204030204" pitchFamily="34" charset="0"/>
            </a:endParaRPr>
          </a:p>
          <a:p>
            <a:pPr algn="ctr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RAG approach</a:t>
            </a:r>
            <a:r>
              <a:rPr lang="en-US" sz="2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ensures accurate, context-based answers by combining </a:t>
            </a: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FAISS vector search</a:t>
            </a:r>
            <a:r>
              <a:rPr lang="en-US" sz="2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</a:t>
            </a:r>
            <a:r>
              <a:rPr lang="en-US" sz="2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generation</a:t>
            </a:r>
            <a:r>
              <a:rPr lang="en-US" sz="2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latin typeface="Calibri" panose="020F0502020204030204" pitchFamily="34" charset="0"/>
            </a:endParaRPr>
          </a:p>
          <a:p>
            <a:pPr algn="ctr"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is </a:t>
            </a:r>
            <a:r>
              <a:rPr lang="en-US" sz="2000" b="1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scalable, modular</a:t>
            </a:r>
            <a:r>
              <a:rPr lang="en-US" sz="200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ready for production deployment.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032000" y="6104347"/>
            <a:ext cx="1219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kern="0" spc="3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ACHIEVEMENTS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032000" y="6548847"/>
            <a:ext cx="1219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CBD5E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100% Test Pass Rate | Full Feature Implementation | Clean Three-Tier Architecture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778000" y="7435672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| Questions Welcome</a:t>
            </a:r>
            <a:endParaRPr lang="en-US" sz="1600" dirty="0">
              <a:latin typeface="Calibri" panose="020F050202020403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778000" y="8645436"/>
            <a:ext cx="1270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Ayush Patel | AKS University, Satna | CSE Department | 2025–2026</a:t>
            </a:r>
            <a:endParaRPr lang="en-US" sz="16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1644</Words>
  <Application>Microsoft Office PowerPoint</Application>
  <PresentationFormat>Custom</PresentationFormat>
  <Paragraphs>241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QuattrocentoSans</vt:lpstr>
      <vt:lpstr>Calibri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FAQ Chatbot for MPOnline Services</dc:title>
  <dc:subject>AI-Powered FAQ Chatbot for MPOnline Services</dc:subject>
  <dc:creator>Kimi</dc:creator>
  <cp:lastModifiedBy>Ayush Patel</cp:lastModifiedBy>
  <cp:revision>7</cp:revision>
  <dcterms:created xsi:type="dcterms:W3CDTF">2026-04-29T09:08:05Z</dcterms:created>
  <dcterms:modified xsi:type="dcterms:W3CDTF">2026-04-29T09:49:04Z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{"Label":"AI-Powered FAQ Chatbot for MPOnline Services","ContentProducer":"001191110108MACG2KBH8F10000","ProduceID":"19dd87d2-55a2-8bc0-8000-0000f2a92879","ReservedCode1":"","ContentPropagator":"001191110108MACG2KBH8F20000","PropagateID":"19dd87d2-55a2-8bc0-8000-0000f2a92879","ReservedCode2":""}</vt:lpwstr>
  </property>
</Properties>
</file>